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 Vicente. Abrir con los nombres del equipo y explicar en una frase que construiremos una plataforma de soporte conversacional reutilizable para las empresas del ecosistema Alloxentric.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 Fabián. Explicar la distribución principal de funciones y recalcar que arquitectura, revisión de código, pruebas generales y presentaciones se trabajan en conjunto.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 Vicente. Describir primero el soporte separado por producto y su dificultad para escalar. Luego explicar la solución: RAG con conocimiento de cada empresa y derivación a Corestream cuando sea necesario.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 Vicente. Leer el objetivo general de forma resumida y explicar que los objetivos específicos cubren datos, documentos, motor RAG, integración con Corestream y validación del flujo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 Fabián. Aclarar que el proyecto completo apunta a varias empresas, pero el MVP comenzará con un canal y un cliente. Señalar que no tenemos contacto directo con Alloxentric y que Corestream podrá simularse si no contamos con acceso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 Fabián. Explicar los ciclos de dos semanas y el seguimiento en GitHub. Recorrer brevemente las seis etapas y cerrar señalando que cada revisión incorpora pruebas y retroalimentación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 Fabián. Mostrar cómo las actividades se distribuyen entre 18 semanas y tres fases. Destacar que las tareas técnicas se solapan para avanzar en paralelo y que las últimas semanas quedan reservadas para pruebas, correcciones y documentación.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 Vicente. Indicar que esta es una arquitectura propuesta para el MVP. Explicar el flujo de la consulta desde la interfaz hacia FastAPI y el motor RAG, la base de conocimiento separada por empresa y la salida alternativa hacia Corestream o un simulador.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>
            <a:extLst>
              <a:ext uri="{FF2B5EF4-FFF2-40B4-BE49-F238E27FC236}">
                <a16:creationId xmlns:a16="http://schemas.microsoft.com/office/drawing/2014/main" id="{EBE8D74D-8234-4479-A7FD-3280E6BD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>
            <a:extLst>
              <a:ext uri="{FF2B5EF4-FFF2-40B4-BE49-F238E27FC236}">
                <a16:creationId xmlns:a16="http://schemas.microsoft.com/office/drawing/2014/main" id="{34D32CD5-5006-4082-A7C2-E67AF7D2A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>
            <a:extLst>
              <a:ext uri="{FF2B5EF4-FFF2-40B4-BE49-F238E27FC236}">
                <a16:creationId xmlns:a16="http://schemas.microsoft.com/office/drawing/2014/main" id="{55C2E4E9-0E7A-4698-A583-855DC3B9ACD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>
            <a:extLst>
              <a:ext uri="{FF2B5EF4-FFF2-40B4-BE49-F238E27FC236}">
                <a16:creationId xmlns:a16="http://schemas.microsoft.com/office/drawing/2014/main" id="{713CF058-CDAA-47D8-A5B4-AFCAF20CF70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>
            <a:extLst>
              <a:ext uri="{FF2B5EF4-FFF2-40B4-BE49-F238E27FC236}">
                <a16:creationId xmlns:a16="http://schemas.microsoft.com/office/drawing/2014/main" id="{BDFF2790-DBA9-4421-9854-92DD02C166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>
            <a:extLst>
              <a:ext uri="{FF2B5EF4-FFF2-40B4-BE49-F238E27FC236}">
                <a16:creationId xmlns:a16="http://schemas.microsoft.com/office/drawing/2014/main" id="{9BEDD6EF-7975-42E6-91D4-A56431254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>
            <a:extLst>
              <a:ext uri="{FF2B5EF4-FFF2-40B4-BE49-F238E27FC236}">
                <a16:creationId xmlns:a16="http://schemas.microsoft.com/office/drawing/2014/main" id="{6FD82209-D3AD-496D-A6B1-D20E12282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>
            <a:extLst>
              <a:ext uri="{FF2B5EF4-FFF2-40B4-BE49-F238E27FC236}">
                <a16:creationId xmlns:a16="http://schemas.microsoft.com/office/drawing/2014/main" id="{82C08A81-67E1-47D4-A28D-CEACF17A139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>
            <a:extLst>
              <a:ext uri="{FF2B5EF4-FFF2-40B4-BE49-F238E27FC236}">
                <a16:creationId xmlns:a16="http://schemas.microsoft.com/office/drawing/2014/main" id="{1B4A5C45-E122-4748-A500-1CCE2BE8701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>
            <a:extLst>
              <a:ext uri="{FF2B5EF4-FFF2-40B4-BE49-F238E27FC236}">
                <a16:creationId xmlns:a16="http://schemas.microsoft.com/office/drawing/2014/main" id="{B9D29E0C-0B4E-493A-B883-CE00A41CC3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>
            <a:extLst>
              <a:ext uri="{FF2B5EF4-FFF2-40B4-BE49-F238E27FC236}">
                <a16:creationId xmlns:a16="http://schemas.microsoft.com/office/drawing/2014/main" id="{826272D6-1F7D-4A5C-9248-4602D6EC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>
            <a:extLst>
              <a:ext uri="{FF2B5EF4-FFF2-40B4-BE49-F238E27FC236}">
                <a16:creationId xmlns:a16="http://schemas.microsoft.com/office/drawing/2014/main" id="{AB590730-792E-4F3D-9012-CB391EFDA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>
            <a:extLst>
              <a:ext uri="{FF2B5EF4-FFF2-40B4-BE49-F238E27FC236}">
                <a16:creationId xmlns:a16="http://schemas.microsoft.com/office/drawing/2014/main" id="{767B43E9-2883-40B9-8698-C0EDCD97A0B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>
            <a:extLst>
              <a:ext uri="{FF2B5EF4-FFF2-40B4-BE49-F238E27FC236}">
                <a16:creationId xmlns:a16="http://schemas.microsoft.com/office/drawing/2014/main" id="{D5456D55-64D4-4149-89C9-A9D21CF612D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>
            <a:extLst>
              <a:ext uri="{FF2B5EF4-FFF2-40B4-BE49-F238E27FC236}">
                <a16:creationId xmlns:a16="http://schemas.microsoft.com/office/drawing/2014/main" id="{C35D06EB-0348-4DA5-BC88-9BA4D626736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>
            <a:extLst>
              <a:ext uri="{FF2B5EF4-FFF2-40B4-BE49-F238E27FC236}">
                <a16:creationId xmlns:a16="http://schemas.microsoft.com/office/drawing/2014/main" id="{2D204981-2D92-4ED7-95C1-DEE76C96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>
            <a:extLst>
              <a:ext uri="{FF2B5EF4-FFF2-40B4-BE49-F238E27FC236}">
                <a16:creationId xmlns:a16="http://schemas.microsoft.com/office/drawing/2014/main" id="{27BCB620-E00C-4B62-96CA-BDFB3FC6F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>
            <a:extLst>
              <a:ext uri="{FF2B5EF4-FFF2-40B4-BE49-F238E27FC236}">
                <a16:creationId xmlns:a16="http://schemas.microsoft.com/office/drawing/2014/main" id="{89E821E2-E5E4-49F2-A004-C736F53907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>
            <a:extLst>
              <a:ext uri="{FF2B5EF4-FFF2-40B4-BE49-F238E27FC236}">
                <a16:creationId xmlns:a16="http://schemas.microsoft.com/office/drawing/2014/main" id="{E2A3ADDA-76C2-4643-9B25-332DDE96E2D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>
            <a:extLst>
              <a:ext uri="{FF2B5EF4-FFF2-40B4-BE49-F238E27FC236}">
                <a16:creationId xmlns:a16="http://schemas.microsoft.com/office/drawing/2014/main" id="{5EA0CB82-413B-460F-B94D-1DA3A4D83CC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>
            <a:extLst>
              <a:ext uri="{FF2B5EF4-FFF2-40B4-BE49-F238E27FC236}">
                <a16:creationId xmlns:a16="http://schemas.microsoft.com/office/drawing/2014/main" id="{65AADC79-223A-41CC-9B3C-17432436B3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>
            <a:extLst>
              <a:ext uri="{FF2B5EF4-FFF2-40B4-BE49-F238E27FC236}">
                <a16:creationId xmlns:a16="http://schemas.microsoft.com/office/drawing/2014/main" id="{49EE521B-4048-4586-B797-7346A90A8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>
            <a:extLst>
              <a:ext uri="{FF2B5EF4-FFF2-40B4-BE49-F238E27FC236}">
                <a16:creationId xmlns:a16="http://schemas.microsoft.com/office/drawing/2014/main" id="{E4842BBE-2142-47B9-950C-223DF41AE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>
            <a:extLst>
              <a:ext uri="{FF2B5EF4-FFF2-40B4-BE49-F238E27FC236}">
                <a16:creationId xmlns:a16="http://schemas.microsoft.com/office/drawing/2014/main" id="{D413C1C1-0EE0-4845-9858-129539361B0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>
            <a:extLst>
              <a:ext uri="{FF2B5EF4-FFF2-40B4-BE49-F238E27FC236}">
                <a16:creationId xmlns:a16="http://schemas.microsoft.com/office/drawing/2014/main" id="{2E2EAEC6-262E-483B-8B2A-219087B4A38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>
            <a:extLst>
              <a:ext uri="{FF2B5EF4-FFF2-40B4-BE49-F238E27FC236}">
                <a16:creationId xmlns:a16="http://schemas.microsoft.com/office/drawing/2014/main" id="{279D0695-B7CE-4E99-8478-389515E3955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>
            <a:extLst>
              <a:ext uri="{FF2B5EF4-FFF2-40B4-BE49-F238E27FC236}">
                <a16:creationId xmlns:a16="http://schemas.microsoft.com/office/drawing/2014/main" id="{762F67E9-4B4C-400F-84CC-90A4B9CDC43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>
            <a:extLst>
              <a:ext uri="{FF2B5EF4-FFF2-40B4-BE49-F238E27FC236}">
                <a16:creationId xmlns:a16="http://schemas.microsoft.com/office/drawing/2014/main" id="{89CD7CF3-8C6A-4E12-9579-C8C7BEB93EC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>
            <a:extLst>
              <a:ext uri="{FF2B5EF4-FFF2-40B4-BE49-F238E27FC236}">
                <a16:creationId xmlns:a16="http://schemas.microsoft.com/office/drawing/2014/main" id="{7ADB1AD9-7BA6-4614-8B7A-17BB1FDE31E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>
            <a:extLst>
              <a:ext uri="{FF2B5EF4-FFF2-40B4-BE49-F238E27FC236}">
                <a16:creationId xmlns:a16="http://schemas.microsoft.com/office/drawing/2014/main" id="{2BF3A5E8-27AE-4DA6-8247-82FFF841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>
            <a:extLst>
              <a:ext uri="{FF2B5EF4-FFF2-40B4-BE49-F238E27FC236}">
                <a16:creationId xmlns:a16="http://schemas.microsoft.com/office/drawing/2014/main" id="{383B0C92-4223-4DED-9AE3-527F416A75C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>
            <a:extLst>
              <a:ext uri="{FF2B5EF4-FFF2-40B4-BE49-F238E27FC236}">
                <a16:creationId xmlns:a16="http://schemas.microsoft.com/office/drawing/2014/main" id="{74AB2ED5-354E-40B6-B289-277226F093A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>
            <a:extLst>
              <a:ext uri="{FF2B5EF4-FFF2-40B4-BE49-F238E27FC236}">
                <a16:creationId xmlns:a16="http://schemas.microsoft.com/office/drawing/2014/main" id="{A6FB214E-2FC7-4B42-B251-D11A9A7DA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>
            <a:extLst>
              <a:ext uri="{FF2B5EF4-FFF2-40B4-BE49-F238E27FC236}">
                <a16:creationId xmlns:a16="http://schemas.microsoft.com/office/drawing/2014/main" id="{237C52D1-F798-484C-B14E-F92BF8E95FB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>
            <a:extLst>
              <a:ext uri="{FF2B5EF4-FFF2-40B4-BE49-F238E27FC236}">
                <a16:creationId xmlns:a16="http://schemas.microsoft.com/office/drawing/2014/main" id="{0BF9BADA-788D-48C7-8378-4C70FD8EE7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>
            <a:extLst>
              <a:ext uri="{FF2B5EF4-FFF2-40B4-BE49-F238E27FC236}">
                <a16:creationId xmlns:a16="http://schemas.microsoft.com/office/drawing/2014/main" id="{C5A1B6CA-9C26-42E9-AD6D-EC4F3B9FD8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>
            <a:extLst>
              <a:ext uri="{FF2B5EF4-FFF2-40B4-BE49-F238E27FC236}">
                <a16:creationId xmlns:a16="http://schemas.microsoft.com/office/drawing/2014/main" id="{62BBF5A4-8D51-4DA5-839C-2C85E07D6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>
            <a:extLst>
              <a:ext uri="{FF2B5EF4-FFF2-40B4-BE49-F238E27FC236}">
                <a16:creationId xmlns:a16="http://schemas.microsoft.com/office/drawing/2014/main" id="{F2E52D4C-4716-4CDE-A971-74B7E56CA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>
            <a:extLst>
              <a:ext uri="{FF2B5EF4-FFF2-40B4-BE49-F238E27FC236}">
                <a16:creationId xmlns:a16="http://schemas.microsoft.com/office/drawing/2014/main" id="{F67658DA-F1DF-4A83-BFDB-20B423E3EB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>
            <a:extLst>
              <a:ext uri="{FF2B5EF4-FFF2-40B4-BE49-F238E27FC236}">
                <a16:creationId xmlns:a16="http://schemas.microsoft.com/office/drawing/2014/main" id="{91172B34-B749-432A-ACF9-4E0C1B5E381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>
            <a:extLst>
              <a:ext uri="{FF2B5EF4-FFF2-40B4-BE49-F238E27FC236}">
                <a16:creationId xmlns:a16="http://schemas.microsoft.com/office/drawing/2014/main" id="{A9F876D6-3BE9-42F3-BD47-44955FDCA7C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>
            <a:extLst>
              <a:ext uri="{FF2B5EF4-FFF2-40B4-BE49-F238E27FC236}">
                <a16:creationId xmlns:a16="http://schemas.microsoft.com/office/drawing/2014/main" id="{B4842C46-0AC8-42FA-9B0E-364A6C6A919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>
            <a:extLst>
              <a:ext uri="{FF2B5EF4-FFF2-40B4-BE49-F238E27FC236}">
                <a16:creationId xmlns:a16="http://schemas.microsoft.com/office/drawing/2014/main" id="{A5F2365B-1596-4D0A-8F75-70C0FF72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>
            <a:extLst>
              <a:ext uri="{FF2B5EF4-FFF2-40B4-BE49-F238E27FC236}">
                <a16:creationId xmlns:a16="http://schemas.microsoft.com/office/drawing/2014/main" id="{CF946D6D-D973-4417-A71F-8B3CFA45394E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>
            <a:extLst>
              <a:ext uri="{FF2B5EF4-FFF2-40B4-BE49-F238E27FC236}">
                <a16:creationId xmlns:a16="http://schemas.microsoft.com/office/drawing/2014/main" id="{58AF5AB1-B322-4926-A03C-8701FFBE9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>
            <a:extLst>
              <a:ext uri="{FF2B5EF4-FFF2-40B4-BE49-F238E27FC236}">
                <a16:creationId xmlns:a16="http://schemas.microsoft.com/office/drawing/2014/main" id="{F557050E-4767-4749-92EC-461D60F5C5E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>
            <a:extLst>
              <a:ext uri="{FF2B5EF4-FFF2-40B4-BE49-F238E27FC236}">
                <a16:creationId xmlns:a16="http://schemas.microsoft.com/office/drawing/2014/main" id="{67B07063-68AC-45CB-97DF-6B5B95FEE68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>
            <a:extLst>
              <a:ext uri="{FF2B5EF4-FFF2-40B4-BE49-F238E27FC236}">
                <a16:creationId xmlns:a16="http://schemas.microsoft.com/office/drawing/2014/main" id="{13499D75-4BDF-4563-87AF-E0C381F9D7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>
            <a:extLst>
              <a:ext uri="{FF2B5EF4-FFF2-40B4-BE49-F238E27FC236}">
                <a16:creationId xmlns:a16="http://schemas.microsoft.com/office/drawing/2014/main" id="{A81E4263-D7AE-4331-A6BD-1850F553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>
            <a:extLst>
              <a:ext uri="{FF2B5EF4-FFF2-40B4-BE49-F238E27FC236}">
                <a16:creationId xmlns:a16="http://schemas.microsoft.com/office/drawing/2014/main" id="{16A06F67-EEC4-4ADD-8556-628F4F148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>
            <a:extLst>
              <a:ext uri="{FF2B5EF4-FFF2-40B4-BE49-F238E27FC236}">
                <a16:creationId xmlns:a16="http://schemas.microsoft.com/office/drawing/2014/main" id="{7274715E-C49A-468A-9677-210F84D5639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>
            <a:extLst>
              <a:ext uri="{FF2B5EF4-FFF2-40B4-BE49-F238E27FC236}">
                <a16:creationId xmlns:a16="http://schemas.microsoft.com/office/drawing/2014/main" id="{EAC42972-94B2-4ADD-A1A5-BABB6B624EF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>
            <a:extLst>
              <a:ext uri="{FF2B5EF4-FFF2-40B4-BE49-F238E27FC236}">
                <a16:creationId xmlns:a16="http://schemas.microsoft.com/office/drawing/2014/main" id="{35D392F2-FFAA-43D4-BF09-BACA430F6D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>
            <a:extLst>
              <a:ext uri="{FF2B5EF4-FFF2-40B4-BE49-F238E27FC236}">
                <a16:creationId xmlns:a16="http://schemas.microsoft.com/office/drawing/2014/main" id="{593FF363-00EE-49A0-8125-D28E67766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>
            <a:extLst>
              <a:ext uri="{FF2B5EF4-FFF2-40B4-BE49-F238E27FC236}">
                <a16:creationId xmlns:a16="http://schemas.microsoft.com/office/drawing/2014/main" id="{746BE071-A785-4EAF-A935-3B0382773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>
            <a:extLst>
              <a:ext uri="{FF2B5EF4-FFF2-40B4-BE49-F238E27FC236}">
                <a16:creationId xmlns:a16="http://schemas.microsoft.com/office/drawing/2014/main" id="{60B2F494-84F8-4E95-8059-DA646CF1048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>
            <a:extLst>
              <a:ext uri="{FF2B5EF4-FFF2-40B4-BE49-F238E27FC236}">
                <a16:creationId xmlns:a16="http://schemas.microsoft.com/office/drawing/2014/main" id="{2F459D21-A04B-4C30-9CD3-8B47F4BE216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>
            <a:extLst>
              <a:ext uri="{FF2B5EF4-FFF2-40B4-BE49-F238E27FC236}">
                <a16:creationId xmlns:a16="http://schemas.microsoft.com/office/drawing/2014/main" id="{ED57618F-307E-478D-A1E3-22AA8D08FC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>
            <a:extLst>
              <a:ext uri="{FF2B5EF4-FFF2-40B4-BE49-F238E27FC236}">
                <a16:creationId xmlns:a16="http://schemas.microsoft.com/office/drawing/2014/main" id="{0047F0D5-03D7-4C56-98A1-5EB00282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>
            <a:extLst>
              <a:ext uri="{FF2B5EF4-FFF2-40B4-BE49-F238E27FC236}">
                <a16:creationId xmlns:a16="http://schemas.microsoft.com/office/drawing/2014/main" id="{A5B245CA-E3C2-4C14-B051-81D01A3CB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15">
            <a:extLst>
              <a:ext uri="{FF2B5EF4-FFF2-40B4-BE49-F238E27FC236}">
                <a16:creationId xmlns:a16="http://schemas.microsoft.com/office/drawing/2014/main" id="{7F7796BA-8B81-4E78-81A5-6703C75A73B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9" name="Google Shape;9;p15">
            <a:extLst>
              <a:ext uri="{FF2B5EF4-FFF2-40B4-BE49-F238E27FC236}">
                <a16:creationId xmlns:a16="http://schemas.microsoft.com/office/drawing/2014/main" id="{E4176163-F554-4C96-993A-0E6B58B67A5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15">
            <a:extLst>
              <a:ext uri="{FF2B5EF4-FFF2-40B4-BE49-F238E27FC236}">
                <a16:creationId xmlns:a16="http://schemas.microsoft.com/office/drawing/2014/main" id="{A89EEB36-B529-4493-A47C-5D54DF562D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84;p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0" y="266700"/>
            <a:ext cx="2857500" cy="714375"/>
          </a:xfrm>
          <a:prstGeom prst="rect">
            <a:avLst/>
          </a:prstGeom>
          <a:ln>
            <a:noFill/>
          </a:ln>
        </p:spPr>
      </p:pic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60A3A197-8B88-4A1A-A52D-62A3E4CF7BAE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10287000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 i="0" u="none" cap="none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CHAT DE SOPORTE GENÉRICO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 i="0" u="none" cap="none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ALLOXENTRIC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PRESENTACIÓN FASE 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cover-accent">
            <a:extLst>
              <a:ext uri="{FF2B5EF4-FFF2-40B4-BE49-F238E27FC236}">
                <a16:creationId xmlns:a16="http://schemas.microsoft.com/office/drawing/2014/main" id="{E24840D4-18BC-4932-A0F6-878FEC701D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8" name="cover-logo-plate">
            <a:extLst>
              <a:ext uri="{FF2B5EF4-FFF2-40B4-BE49-F238E27FC236}">
                <a16:creationId xmlns:a16="http://schemas.microsoft.com/office/drawing/2014/main" id="{94C6817C-9384-4FFC-8CAD-3C76BA94144A}"/>
              </a:ext>
            </a:extLst>
          </p:cNvPr>
          <p:cNvSpPr>
            <a:spLocks noGrp="1"/>
          </p:cNvSpPr>
          <p:nvPr/>
        </p:nvSpPr>
        <p:spPr>
          <a:xfrm>
            <a:off x="8572500" y="171450"/>
            <a:ext cx="333375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9" name="cover-authors">
            <a:extLst>
              <a:ext uri="{FF2B5EF4-FFF2-40B4-BE49-F238E27FC236}">
                <a16:creationId xmlns:a16="http://schemas.microsoft.com/office/drawing/2014/main" id="{DAF3F373-78AA-45BF-8E7D-03242715C4D3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6667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DCE8F7"/>
                </a:solidFill>
                <a:latin typeface="Segoe UI"/>
                <a:ea typeface="Segoe UI"/>
                <a:cs typeface="Segoe UI"/>
              </a:defRPr>
            </a:pPr>
            <a:r>
              <a:rPr lang="es-CL" sz="1575" dirty="0">
                <a:solidFill>
                  <a:srgbClr val="DCE8F7"/>
                </a:solidFill>
                <a:latin typeface="Segoe UI"/>
                <a:ea typeface="Segoe UI"/>
                <a:cs typeface="Segoe UI"/>
              </a:rPr>
              <a:t>Fabián Armijo  y </a:t>
            </a:r>
            <a:r>
              <a:rPr sz="1575" b="0" dirty="0">
                <a:solidFill>
                  <a:srgbClr val="DCE8F7"/>
                </a:solidFill>
                <a:latin typeface="Segoe UI"/>
                <a:ea typeface="Segoe UI"/>
                <a:cs typeface="Segoe UI"/>
              </a:rPr>
              <a:t>Vicente Balladares </a:t>
            </a:r>
            <a:endParaRPr lang="es-MX" sz="1575" b="0" dirty="0">
              <a:solidFill>
                <a:srgbClr val="DCE8F7"/>
              </a:solidFill>
              <a:latin typeface="Segoe UI"/>
              <a:ea typeface="Segoe UI"/>
              <a:cs typeface="Segoe UI"/>
            </a:endParaRPr>
          </a:p>
          <a:p>
            <a:pPr>
              <a:defRPr sz="1575" b="0">
                <a:solidFill>
                  <a:srgbClr val="DCE8F7"/>
                </a:solidFill>
                <a:latin typeface="Segoe UI"/>
                <a:ea typeface="Segoe UI"/>
                <a:cs typeface="Segoe UI"/>
              </a:defRPr>
            </a:pPr>
            <a:r>
              <a:rPr sz="1575" b="0" dirty="0">
                <a:solidFill>
                  <a:srgbClr val="DCE8F7"/>
                </a:solidFill>
                <a:latin typeface="Segoe UI"/>
                <a:ea typeface="Segoe UI"/>
                <a:cs typeface="Segoe UI"/>
              </a:rPr>
              <a:t>Ingeniería </a:t>
            </a:r>
            <a:r>
              <a:rPr sz="1575" b="0" dirty="0" err="1">
                <a:solidFill>
                  <a:srgbClr val="DCE8F7"/>
                </a:solidFill>
                <a:latin typeface="Segoe UI"/>
                <a:ea typeface="Segoe UI"/>
                <a:cs typeface="Segoe UI"/>
              </a:rPr>
              <a:t>en</a:t>
            </a:r>
            <a:r>
              <a:rPr sz="1575" b="0" dirty="0">
                <a:solidFill>
                  <a:srgbClr val="DCE8F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75" b="0" dirty="0" err="1">
                <a:solidFill>
                  <a:srgbClr val="DCE8F7"/>
                </a:solidFill>
                <a:latin typeface="Segoe UI"/>
                <a:ea typeface="Segoe UI"/>
                <a:cs typeface="Segoe UI"/>
              </a:rPr>
              <a:t>Informática</a:t>
            </a:r>
            <a:endParaRPr sz="1575" b="0" dirty="0">
              <a:solidFill>
                <a:srgbClr val="DCE8F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0" name="cover-course">
            <a:extLst>
              <a:ext uri="{FF2B5EF4-FFF2-40B4-BE49-F238E27FC236}">
                <a16:creationId xmlns:a16="http://schemas.microsoft.com/office/drawing/2014/main" id="{04B800F0-6489-4C50-B38E-DE336F787D06}"/>
              </a:ext>
            </a:extLst>
          </p:cNvPr>
          <p:cNvSpPr>
            <a:spLocks noGrp="1"/>
          </p:cNvSpPr>
          <p:nvPr/>
        </p:nvSpPr>
        <p:spPr>
          <a:xfrm>
            <a:off x="990600" y="16192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1">
                <a:solidFill>
                  <a:srgbClr val="06B6D4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6B6D4"/>
                </a:solidFill>
                <a:latin typeface="Segoe UI"/>
                <a:ea typeface="Segoe UI"/>
                <a:cs typeface="Segoe UI"/>
              </a:rPr>
              <a:t>Proyecto de Título APT122</a:t>
            </a:r>
          </a:p>
        </p:txBody>
      </p:sp>
      <p:pic>
        <p:nvPicPr>
          <p:cNvPr id="98" name="Imagen 9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0" y="266700"/>
            <a:ext cx="2857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90;p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  <a:ln>
            <a:noFill/>
          </a:ln>
        </p:spPr>
      </p:pic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B13F08F0-C5D6-4D4F-8642-6F80471EB779}"/>
              </a:ext>
            </a:extLst>
          </p:cNvPr>
          <p:cNvSpPr>
            <a:spLocks noGrp="1"/>
          </p:cNvSpPr>
          <p:nvPr/>
        </p:nvSpPr>
        <p:spPr>
          <a:xfrm>
            <a:off x="3333750" y="1524000"/>
            <a:ext cx="809625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8">
            <a:solidFill>
              <a:srgbClr val="D9E3F0"/>
            </a:solidFill>
            <a:prstDash val="solid"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>
            <a:extLst>
              <a:ext uri="{FF2B5EF4-FFF2-40B4-BE49-F238E27FC236}">
                <a16:creationId xmlns:a16="http://schemas.microsoft.com/office/drawing/2014/main" id="{229BDED4-C5CA-48CB-8F51-0B01068DE2E8}"/>
              </a:ext>
            </a:extLst>
          </p:cNvPr>
          <p:cNvSpPr>
            <a:spLocks noGrp="1"/>
          </p:cNvSpPr>
          <p:nvPr/>
        </p:nvSpPr>
        <p:spPr>
          <a:xfrm>
            <a:off x="5191125" y="1828800"/>
            <a:ext cx="5810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>
            <a:norm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  <a:defRPr sz="17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0" i="0" u="none" cap="none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Vicente Balladares</a:t>
            </a:r>
            <a:endParaRPr sz="26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28600" marR="0" lvl="1" indent="-22860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  <a:defRPr sz="17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0" i="0" u="none" cap="none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Desarrollador del proyecto</a:t>
            </a:r>
            <a:endParaRPr sz="20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28600" marR="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  <a:defRPr sz="17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0" i="0" u="none" cap="none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Datos, arquitectura RAG, backend y pruebas</a:t>
            </a:r>
            <a:endParaRPr sz="20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CDBF5659-9F8F-4438-942F-CB07A968A7BD}"/>
              </a:ext>
            </a:extLst>
          </p:cNvPr>
          <p:cNvSpPr>
            <a:spLocks noGrp="1"/>
          </p:cNvSpPr>
          <p:nvPr/>
        </p:nvSpPr>
        <p:spPr>
          <a:xfrm>
            <a:off x="3638550" y="1885950"/>
            <a:ext cx="1190625" cy="1190625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0"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2563EB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VB</a:t>
            </a:r>
            <a:endParaRPr/>
          </a:p>
        </p:txBody>
      </p:sp>
      <p:sp>
        <p:nvSpPr>
          <p:cNvPr id="95" name="Google Shape;95;p2">
            <a:extLst>
              <a:ext uri="{FF2B5EF4-FFF2-40B4-BE49-F238E27FC236}">
                <a16:creationId xmlns:a16="http://schemas.microsoft.com/office/drawing/2014/main" id="{E2022A99-EFC1-4C9B-80D2-0D57CA822C6F}"/>
              </a:ext>
            </a:extLst>
          </p:cNvPr>
          <p:cNvSpPr>
            <a:spLocks noGrp="1"/>
          </p:cNvSpPr>
          <p:nvPr/>
        </p:nvSpPr>
        <p:spPr>
          <a:xfrm>
            <a:off x="3333750" y="3857625"/>
            <a:ext cx="809625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8">
            <a:solidFill>
              <a:srgbClr val="D9E3F0"/>
            </a:solidFill>
            <a:prstDash val="solid"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8ADD8443-4A99-47D8-86ED-68DE3205C307}"/>
              </a:ext>
            </a:extLst>
          </p:cNvPr>
          <p:cNvSpPr>
            <a:spLocks noGrp="1"/>
          </p:cNvSpPr>
          <p:nvPr/>
        </p:nvSpPr>
        <p:spPr>
          <a:xfrm>
            <a:off x="5191125" y="4162425"/>
            <a:ext cx="5810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>
            <a:norm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  <a:defRPr sz="17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0" i="0" u="none" cap="none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Fabián Armijo</a:t>
            </a:r>
            <a:endParaRPr sz="26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28600" marR="0" lvl="1" indent="-22860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  <a:defRPr sz="17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0" i="0" u="none" cap="none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Desarrollador del proyecto</a:t>
            </a:r>
            <a:endParaRPr sz="20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28600" marR="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  <a:defRPr sz="17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0" i="0" u="none" cap="none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Aplicación, integración, planificación y documentación</a:t>
            </a:r>
            <a:endParaRPr sz="20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C399A5AC-FE88-431D-BB88-4B2BF0A4072E}"/>
              </a:ext>
            </a:extLst>
          </p:cNvPr>
          <p:cNvSpPr>
            <a:spLocks noGrp="1"/>
          </p:cNvSpPr>
          <p:nvPr/>
        </p:nvSpPr>
        <p:spPr>
          <a:xfrm>
            <a:off x="3638550" y="4219575"/>
            <a:ext cx="1190625" cy="1190625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0"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0F9F9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F9F9A"/>
                </a:solidFill>
                <a:latin typeface="Segoe UI"/>
                <a:ea typeface="Segoe UI"/>
                <a:cs typeface="Segoe UI"/>
              </a:rPr>
              <a:t>FA</a:t>
            </a:r>
            <a:endParaRPr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86F386A-44E7-48C7-86CA-F95831E7D5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oundRect">
            <a:avLst>
              <a:gd name="adj" fmla="val 10000"/>
            </a:avLst>
          </a:prstGeom>
          <a:noFill/>
          <a:ln w="0"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02C89B1-AF48-401A-8C5A-0C67A754F0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9050" tIns="99050" rIns="99050" bIns="9905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endParaRPr sz="26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C3D5251-BF50-43E8-9CFB-32AEBC2CE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oundRect">
            <a:avLst>
              <a:gd name="adj" fmla="val 10000"/>
            </a:avLst>
          </a:prstGeom>
          <a:noFill/>
          <a:ln w="0"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794B2ED-6A93-4DA7-9811-9750A69888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43523269-014B-4258-BAEA-F03C28BC5CBC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381250" cy="173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Integrantes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2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ln w="0" cap="flat">
            <a:noFill/>
            <a:miter/>
            <a:headEnd type="none" w="sm" len="sm"/>
            <a:tailEnd type="none" w="sm" len="sm"/>
          </a:ln>
        </p:spPr>
      </p:cxnSp>
      <p:sp>
        <p:nvSpPr>
          <p:cNvPr id="105" name="header-surface-2">
            <a:extLst>
              <a:ext uri="{FF2B5EF4-FFF2-40B4-BE49-F238E27FC236}">
                <a16:creationId xmlns:a16="http://schemas.microsoft.com/office/drawing/2014/main" id="{4713B828-832A-4B2E-A8CA-440FE1B069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6" name="header-accent-2">
            <a:extLst>
              <a:ext uri="{FF2B5EF4-FFF2-40B4-BE49-F238E27FC236}">
                <a16:creationId xmlns:a16="http://schemas.microsoft.com/office/drawing/2014/main" id="{093ED434-5E20-4B35-BA49-F297127933F4}"/>
              </a:ext>
            </a:extLst>
          </p:cNvPr>
          <p:cNvSpPr>
            <a:spLocks noGrp="1"/>
          </p:cNvSpPr>
          <p:nvPr/>
        </p:nvSpPr>
        <p:spPr>
          <a:xfrm>
            <a:off x="0" y="981075"/>
            <a:ext cx="12192000" cy="47625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7" name="header-title-2">
            <a:extLst>
              <a:ext uri="{FF2B5EF4-FFF2-40B4-BE49-F238E27FC236}">
                <a16:creationId xmlns:a16="http://schemas.microsoft.com/office/drawing/2014/main" id="{FFA67C5B-FBE5-4C6E-B3DD-0654F60895F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CHAT DE SOPORTE GENÉRICO ALLOXENTRIC</a:t>
            </a:r>
          </a:p>
        </p:txBody>
      </p:sp>
      <p:pic>
        <p:nvPicPr>
          <p:cNvPr id="126" name="Imagen 1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</p:spPr>
      </p:pic>
      <p:sp>
        <p:nvSpPr>
          <p:cNvPr id="109" name="footer-2">
            <a:extLst>
              <a:ext uri="{FF2B5EF4-FFF2-40B4-BE49-F238E27FC236}">
                <a16:creationId xmlns:a16="http://schemas.microsoft.com/office/drawing/2014/main" id="{C1FD675C-11B1-4B31-9DC0-76BD82C0EF6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53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939" lnSpcReduction="10000"/>
          </a:bodyPr>
          <a:lstStyle/>
          <a:p>
            <a:pPr algn="l">
              <a:defRPr sz="8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APT122   Ingeniería en Informática                                      2/8</a:t>
            </a:r>
          </a:p>
        </p:txBody>
      </p:sp>
    </p:spTree>
    <p:extLst>
      <p:ext uri="{BB962C8B-B14F-4D97-AF65-F5344CB8AC3E}">
        <p14:creationId xmlns:p14="http://schemas.microsoft.com/office/powerpoint/2010/main" val="158491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08;p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  <a:ln>
            <a:noFill/>
          </a:ln>
        </p:spPr>
      </p:pic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847FBF66-B2EF-48AD-9104-C025E8E32A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52E3E80F-F908-428D-A9D9-391935E7232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9525000" cy="64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Problema y propuesta de solución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8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ln w="0" cap="flat">
            <a:noFill/>
            <a:miter/>
            <a:headEnd type="none" w="sm" len="sm"/>
            <a:tailEnd type="none" w="sm" len="sm"/>
          </a:ln>
        </p:spPr>
      </p:cxn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B3F4BBE3-F106-4399-95CC-66DF83632A3F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4857750" cy="3429000"/>
          </a:xfrm>
          <a:prstGeom prst="roundRect">
            <a:avLst>
              <a:gd name="adj" fmla="val 10901"/>
            </a:avLst>
          </a:prstGeom>
          <a:solidFill>
            <a:srgbClr val="FFF3F0"/>
          </a:solidFill>
          <a:ln w="14288">
            <a:solidFill>
              <a:srgbClr val="F2A5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79F069F1-19DC-4397-9101-37CF87047C09}"/>
              </a:ext>
            </a:extLst>
          </p:cNvPr>
          <p:cNvSpPr>
            <a:spLocks noGrp="1"/>
          </p:cNvSpPr>
          <p:nvPr/>
        </p:nvSpPr>
        <p:spPr>
          <a:xfrm>
            <a:off x="6724650" y="2238375"/>
            <a:ext cx="4857750" cy="3429000"/>
          </a:xfrm>
          <a:prstGeom prst="roundRect">
            <a:avLst>
              <a:gd name="adj" fmla="val 10901"/>
            </a:avLst>
          </a:prstGeom>
          <a:solidFill>
            <a:srgbClr val="EEF6FF"/>
          </a:solidFill>
          <a:ln w="14288">
            <a:solidFill>
              <a:srgbClr val="83B4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1F0AEC10-9A52-4E62-8EC0-FCE522A097A5}"/>
              </a:ext>
            </a:extLst>
          </p:cNvPr>
          <p:cNvSpPr>
            <a:spLocks noGrp="1"/>
          </p:cNvSpPr>
          <p:nvPr/>
        </p:nvSpPr>
        <p:spPr>
          <a:xfrm>
            <a:off x="5676900" y="3476625"/>
            <a:ext cx="838200" cy="60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9F9A"/>
          </a:solidFill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header-surface-3">
            <a:extLst>
              <a:ext uri="{FF2B5EF4-FFF2-40B4-BE49-F238E27FC236}">
                <a16:creationId xmlns:a16="http://schemas.microsoft.com/office/drawing/2014/main" id="{BB8B0964-9953-4563-B219-D042B8429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7" name="header-accent-3">
            <a:extLst>
              <a:ext uri="{FF2B5EF4-FFF2-40B4-BE49-F238E27FC236}">
                <a16:creationId xmlns:a16="http://schemas.microsoft.com/office/drawing/2014/main" id="{1688CB53-27AB-460B-A1D1-E01C94C9FAA9}"/>
              </a:ext>
            </a:extLst>
          </p:cNvPr>
          <p:cNvSpPr>
            <a:spLocks noGrp="1"/>
          </p:cNvSpPr>
          <p:nvPr/>
        </p:nvSpPr>
        <p:spPr>
          <a:xfrm>
            <a:off x="0" y="981075"/>
            <a:ext cx="12192000" cy="47625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8" name="header-title-3">
            <a:extLst>
              <a:ext uri="{FF2B5EF4-FFF2-40B4-BE49-F238E27FC236}">
                <a16:creationId xmlns:a16="http://schemas.microsoft.com/office/drawing/2014/main" id="{56CBAE98-0CDA-456E-B2D4-F9CB09782D5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CHAT DE SOPORTE GENÉRICO ALLOXENTRIC</a:t>
            </a:r>
          </a:p>
        </p:txBody>
      </p:sp>
      <p:pic>
        <p:nvPicPr>
          <p:cNvPr id="135" name="Imagen 1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</p:spPr>
      </p:pic>
      <p:sp>
        <p:nvSpPr>
          <p:cNvPr id="120" name="footer-3">
            <a:extLst>
              <a:ext uri="{FF2B5EF4-FFF2-40B4-BE49-F238E27FC236}">
                <a16:creationId xmlns:a16="http://schemas.microsoft.com/office/drawing/2014/main" id="{E16E4CE5-BD33-431C-A2FA-A5820D49B916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53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939" lnSpcReduction="10000"/>
          </a:bodyPr>
          <a:lstStyle/>
          <a:p>
            <a:pPr algn="l">
              <a:defRPr sz="8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APT122   Ingeniería en Informática                                      3/8</a:t>
            </a:r>
          </a:p>
        </p:txBody>
      </p:sp>
      <p:sp>
        <p:nvSpPr>
          <p:cNvPr id="121" name="problem-heading">
            <a:extLst>
              <a:ext uri="{FF2B5EF4-FFF2-40B4-BE49-F238E27FC236}">
                <a16:creationId xmlns:a16="http://schemas.microsoft.com/office/drawing/2014/main" id="{76F23BC2-D7B7-4E17-A8EB-A1926AFF4F27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1">
                <a:solidFill>
                  <a:srgbClr val="B5472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B5472D"/>
                </a:solidFill>
                <a:latin typeface="Segoe UI"/>
                <a:ea typeface="Segoe UI"/>
                <a:cs typeface="Segoe UI"/>
              </a:rPr>
              <a:t>Problema actual</a:t>
            </a:r>
          </a:p>
        </p:txBody>
      </p:sp>
      <p:sp>
        <p:nvSpPr>
          <p:cNvPr id="122" name="problem-body">
            <a:extLst>
              <a:ext uri="{FF2B5EF4-FFF2-40B4-BE49-F238E27FC236}">
                <a16:creationId xmlns:a16="http://schemas.microsoft.com/office/drawing/2014/main" id="{8CBA2171-5F64-4242-B9F8-B3E3C5CD8D8F}"/>
              </a:ext>
            </a:extLst>
          </p:cNvPr>
          <p:cNvSpPr>
            <a:spLocks noGrp="1"/>
          </p:cNvSpPr>
          <p:nvPr/>
        </p:nvSpPr>
        <p:spPr>
          <a:xfrm>
            <a:off x="895350" y="3095625"/>
            <a:ext cx="400050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El soporte se gestiona por separado en cada producto. Esto aumenta los costos, dificulta la escalabilidad y prolonga los tiempos de respuesta para los usuarios.</a:t>
            </a:r>
          </a:p>
        </p:txBody>
      </p:sp>
      <p:sp>
        <p:nvSpPr>
          <p:cNvPr id="123" name="solution-heading">
            <a:extLst>
              <a:ext uri="{FF2B5EF4-FFF2-40B4-BE49-F238E27FC236}">
                <a16:creationId xmlns:a16="http://schemas.microsoft.com/office/drawing/2014/main" id="{F90A5306-CB3A-4EC0-BD40-5DE8C50C0ED2}"/>
              </a:ext>
            </a:extLst>
          </p:cNvPr>
          <p:cNvSpPr>
            <a:spLocks noGrp="1"/>
          </p:cNvSpPr>
          <p:nvPr/>
        </p:nvSpPr>
        <p:spPr>
          <a:xfrm>
            <a:off x="7010400" y="247650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1">
                <a:solidFill>
                  <a:srgbClr val="2563EB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Propuesta de solución</a:t>
            </a:r>
          </a:p>
        </p:txBody>
      </p:sp>
      <p:sp>
        <p:nvSpPr>
          <p:cNvPr id="124" name="solution-body">
            <a:extLst>
              <a:ext uri="{FF2B5EF4-FFF2-40B4-BE49-F238E27FC236}">
                <a16:creationId xmlns:a16="http://schemas.microsoft.com/office/drawing/2014/main" id="{D5F3912E-40EE-4CBF-9260-A76408F253E8}"/>
              </a:ext>
            </a:extLst>
          </p:cNvPr>
          <p:cNvSpPr>
            <a:spLocks noGrp="1"/>
          </p:cNvSpPr>
          <p:nvPr/>
        </p:nvSpPr>
        <p:spPr>
          <a:xfrm>
            <a:off x="7010400" y="3095625"/>
            <a:ext cx="4095750" cy="2143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Una plataforma multiempresa que responde usando el conocimiento propio de cada organización mediante RAG y un modelo de lenguaje. Si no resuelve la consulta, crea un ticket en Corestream para derivarla a una persona.</a:t>
            </a:r>
          </a:p>
        </p:txBody>
      </p:sp>
    </p:spTree>
    <p:extLst>
      <p:ext uri="{BB962C8B-B14F-4D97-AF65-F5344CB8AC3E}">
        <p14:creationId xmlns:p14="http://schemas.microsoft.com/office/powerpoint/2010/main" val="200074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19;p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  <a:ln>
            <a:noFill/>
          </a:ln>
        </p:spPr>
      </p:pic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FBBEC5BE-F9EE-4EBF-ABE6-DD5DC3317E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EF9E0CBE-148D-47F5-B723-A05FACCE734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572500" cy="64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Objetivos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38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ln w="0" cap="flat">
            <a:noFill/>
            <a:miter/>
            <a:headEnd type="none" w="sm" len="sm"/>
            <a:tailEnd type="none" w="sm" len="sm"/>
          </a:ln>
        </p:spPr>
      </p:cxn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AE80F4D4-9A0B-4DBE-AAB1-F76D00C16E85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8572500" cy="64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74BD9477-3990-4EA6-AC65-45B6EDB7006F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53750" cy="1333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D9E3F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4">
            <a:extLst>
              <a:ext uri="{FF2B5EF4-FFF2-40B4-BE49-F238E27FC236}">
                <a16:creationId xmlns:a16="http://schemas.microsoft.com/office/drawing/2014/main" id="{D411C3A3-0C17-4B8D-AEA0-FB5770E2C1D1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10953750" cy="19526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D9E3F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header-surface-4">
            <a:extLst>
              <a:ext uri="{FF2B5EF4-FFF2-40B4-BE49-F238E27FC236}">
                <a16:creationId xmlns:a16="http://schemas.microsoft.com/office/drawing/2014/main" id="{F3C39540-6252-405A-AD31-EAFFB5FB39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8" name="header-accent-4">
            <a:extLst>
              <a:ext uri="{FF2B5EF4-FFF2-40B4-BE49-F238E27FC236}">
                <a16:creationId xmlns:a16="http://schemas.microsoft.com/office/drawing/2014/main" id="{DA5D4968-CEBE-419E-A764-8E78C114D938}"/>
              </a:ext>
            </a:extLst>
          </p:cNvPr>
          <p:cNvSpPr>
            <a:spLocks noGrp="1"/>
          </p:cNvSpPr>
          <p:nvPr/>
        </p:nvSpPr>
        <p:spPr>
          <a:xfrm>
            <a:off x="0" y="981075"/>
            <a:ext cx="12192000" cy="47625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9" name="header-title-4">
            <a:extLst>
              <a:ext uri="{FF2B5EF4-FFF2-40B4-BE49-F238E27FC236}">
                <a16:creationId xmlns:a16="http://schemas.microsoft.com/office/drawing/2014/main" id="{37CD6794-6B36-4FFD-B459-203BDA320B1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CHAT DE SOPORTE GENÉRICO ALLOXENTRIC</a:t>
            </a:r>
          </a:p>
        </p:txBody>
      </p:sp>
      <p:pic>
        <p:nvPicPr>
          <p:cNvPr id="145" name="Imagen 1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</p:spPr>
      </p:pic>
      <p:sp>
        <p:nvSpPr>
          <p:cNvPr id="131" name="footer-4">
            <a:extLst>
              <a:ext uri="{FF2B5EF4-FFF2-40B4-BE49-F238E27FC236}">
                <a16:creationId xmlns:a16="http://schemas.microsoft.com/office/drawing/2014/main" id="{8F41D042-C81D-4641-909C-AA00FA0689F8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53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939" lnSpcReduction="10000"/>
          </a:bodyPr>
          <a:lstStyle/>
          <a:p>
            <a:pPr algn="l">
              <a:defRPr sz="8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APT122   Ingeniería en Informática                                      4/8</a:t>
            </a:r>
          </a:p>
        </p:txBody>
      </p:sp>
      <p:sp>
        <p:nvSpPr>
          <p:cNvPr id="132" name="general-label">
            <a:extLst>
              <a:ext uri="{FF2B5EF4-FFF2-40B4-BE49-F238E27FC236}">
                <a16:creationId xmlns:a16="http://schemas.microsoft.com/office/drawing/2014/main" id="{08AED95D-1600-45D4-8E2B-C6F7FB87D02F}"/>
              </a:ext>
            </a:extLst>
          </p:cNvPr>
          <p:cNvSpPr>
            <a:spLocks noGrp="1"/>
          </p:cNvSpPr>
          <p:nvPr/>
        </p:nvSpPr>
        <p:spPr>
          <a:xfrm>
            <a:off x="857250" y="192405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OBJETIVO GENERAL</a:t>
            </a:r>
          </a:p>
        </p:txBody>
      </p:sp>
      <p:sp>
        <p:nvSpPr>
          <p:cNvPr id="133" name="general-body">
            <a:extLst>
              <a:ext uri="{FF2B5EF4-FFF2-40B4-BE49-F238E27FC236}">
                <a16:creationId xmlns:a16="http://schemas.microsoft.com/office/drawing/2014/main" id="{0AD04039-D965-4006-9C98-0C3C5517A3B8}"/>
              </a:ext>
            </a:extLst>
          </p:cNvPr>
          <p:cNvSpPr>
            <a:spLocks noGrp="1"/>
          </p:cNvSpPr>
          <p:nvPr/>
        </p:nvSpPr>
        <p:spPr>
          <a:xfrm>
            <a:off x="904875" y="2428875"/>
            <a:ext cx="10382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57" lnSpcReduction="10000"/>
          </a:bodyPr>
          <a:lstStyle/>
          <a:p>
            <a:pPr algn="l">
              <a:defRPr sz="15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Desarrollar una plataforma de soporte conversacional basada en RAG y un modelo de lenguaje, que responda consultas con el conocimiento propio de cada empresa y derive a un agente humano mediante Corestream cuando no pueda resolverlas.</a:t>
            </a:r>
          </a:p>
        </p:txBody>
      </p:sp>
      <p:sp>
        <p:nvSpPr>
          <p:cNvPr id="134" name="specifics-body">
            <a:extLst>
              <a:ext uri="{FF2B5EF4-FFF2-40B4-BE49-F238E27FC236}">
                <a16:creationId xmlns:a16="http://schemas.microsoft.com/office/drawing/2014/main" id="{1773AD73-4752-4230-9642-6533832457A6}"/>
              </a:ext>
            </a:extLst>
          </p:cNvPr>
          <p:cNvSpPr>
            <a:spLocks noGrp="1"/>
          </p:cNvSpPr>
          <p:nvPr/>
        </p:nvSpPr>
        <p:spPr>
          <a:xfrm>
            <a:off x="904875" y="4572000"/>
            <a:ext cx="1038225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Diseñar un modelo de datos que aísle la información de cada empresa.</a:t>
            </a:r>
          </a:p>
          <a:p>
            <a:pPr algn="l">
              <a:defRPr sz="13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Implementar la carga y vectorización de documentos y preguntas frecuentes.</a:t>
            </a:r>
          </a:p>
          <a:p>
            <a:pPr algn="l">
              <a:defRPr sz="13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Desarrollar el motor conversacional RAG conectado a un modelo de lenguaje.</a:t>
            </a:r>
          </a:p>
          <a:p>
            <a:pPr algn="l">
              <a:defRPr sz="13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Integrar la derivación automática de consultas a Corestream.</a:t>
            </a:r>
          </a:p>
          <a:p>
            <a:pPr algn="l">
              <a:defRPr sz="13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Validar el flujo completo mediante pruebas.</a:t>
            </a:r>
          </a:p>
        </p:txBody>
      </p:sp>
    </p:spTree>
    <p:extLst>
      <p:ext uri="{BB962C8B-B14F-4D97-AF65-F5344CB8AC3E}">
        <p14:creationId xmlns:p14="http://schemas.microsoft.com/office/powerpoint/2010/main" val="1737914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30;p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  <a:ln>
            <a:noFill/>
          </a:ln>
        </p:spPr>
      </p:pic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C12AAC45-8E43-4CC8-9A3C-50D1BECA83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32764772-1778-4EC5-A0EB-DC338588F14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287000" cy="64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Alcances y limitaciones del proyecto</a:t>
            </a:r>
            <a:endParaRPr/>
          </a:p>
        </p:txBody>
      </p:sp>
      <p:cxnSp>
        <p:nvCxnSpPr>
          <p:cNvPr id="149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ln w="0" cap="flat">
            <a:noFill/>
            <a:miter/>
            <a:headEnd type="none" w="sm" len="sm"/>
            <a:tailEnd type="none" w="sm" len="sm"/>
          </a:ln>
        </p:spPr>
      </p:cxnSp>
      <p:sp>
        <p:nvSpPr>
          <p:cNvPr id="135" name="header-surface-5">
            <a:extLst>
              <a:ext uri="{FF2B5EF4-FFF2-40B4-BE49-F238E27FC236}">
                <a16:creationId xmlns:a16="http://schemas.microsoft.com/office/drawing/2014/main" id="{B32949A0-82C2-4B9F-817B-D42FF280FF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6" name="header-accent-5">
            <a:extLst>
              <a:ext uri="{FF2B5EF4-FFF2-40B4-BE49-F238E27FC236}">
                <a16:creationId xmlns:a16="http://schemas.microsoft.com/office/drawing/2014/main" id="{3B9187A5-B134-476A-81E1-D550C85F6BEC}"/>
              </a:ext>
            </a:extLst>
          </p:cNvPr>
          <p:cNvSpPr>
            <a:spLocks noGrp="1"/>
          </p:cNvSpPr>
          <p:nvPr/>
        </p:nvSpPr>
        <p:spPr>
          <a:xfrm>
            <a:off x="0" y="981075"/>
            <a:ext cx="12192000" cy="47625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7" name="header-title-5">
            <a:extLst>
              <a:ext uri="{FF2B5EF4-FFF2-40B4-BE49-F238E27FC236}">
                <a16:creationId xmlns:a16="http://schemas.microsoft.com/office/drawing/2014/main" id="{4737188D-DCE4-4509-9990-580346C7991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CHAT DE SOPORTE GENÉRICO ALLOXENTRIC</a:t>
            </a:r>
          </a:p>
        </p:txBody>
      </p:sp>
      <p:pic>
        <p:nvPicPr>
          <p:cNvPr id="153" name="Imagen 1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</p:spPr>
      </p:pic>
      <p:sp>
        <p:nvSpPr>
          <p:cNvPr id="139" name="footer-5">
            <a:extLst>
              <a:ext uri="{FF2B5EF4-FFF2-40B4-BE49-F238E27FC236}">
                <a16:creationId xmlns:a16="http://schemas.microsoft.com/office/drawing/2014/main" id="{C4B3ECBD-A523-4FE7-BF45-55FB2768CAF7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53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939" lnSpcReduction="10000"/>
          </a:bodyPr>
          <a:lstStyle/>
          <a:p>
            <a:pPr algn="l">
              <a:defRPr sz="8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APT122   Ingeniería en Informática                                      5/8</a:t>
            </a:r>
          </a:p>
        </p:txBody>
      </p:sp>
      <p:sp>
        <p:nvSpPr>
          <p:cNvPr id="140" name="scope-divider">
            <a:extLst>
              <a:ext uri="{FF2B5EF4-FFF2-40B4-BE49-F238E27FC236}">
                <a16:creationId xmlns:a16="http://schemas.microsoft.com/office/drawing/2014/main" id="{207C8508-D7F7-45B6-9ADB-E0666E0597F4}"/>
              </a:ext>
            </a:extLst>
          </p:cNvPr>
          <p:cNvSpPr>
            <a:spLocks noGrp="1"/>
          </p:cNvSpPr>
          <p:nvPr/>
        </p:nvSpPr>
        <p:spPr>
          <a:xfrm>
            <a:off x="6076950" y="2143125"/>
            <a:ext cx="19050" cy="3619500"/>
          </a:xfrm>
          <a:prstGeom prst="rect">
            <a:avLst/>
          </a:prstGeom>
          <a:solidFill>
            <a:srgbClr val="D9E3F0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1" name="scope-heading">
            <a:extLst>
              <a:ext uri="{FF2B5EF4-FFF2-40B4-BE49-F238E27FC236}">
                <a16:creationId xmlns:a16="http://schemas.microsoft.com/office/drawing/2014/main" id="{31066FF7-9C7B-469A-BC19-AE7063206548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827"/>
          </a:bodyPr>
          <a:lstStyle/>
          <a:p>
            <a:pPr algn="l">
              <a:defRPr sz="2025" b="1">
                <a:solidFill>
                  <a:srgbClr val="2563EB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Alcance inicial</a:t>
            </a:r>
          </a:p>
        </p:txBody>
      </p:sp>
      <p:sp>
        <p:nvSpPr>
          <p:cNvPr id="142" name="scope-body">
            <a:extLst>
              <a:ext uri="{FF2B5EF4-FFF2-40B4-BE49-F238E27FC236}">
                <a16:creationId xmlns:a16="http://schemas.microsoft.com/office/drawing/2014/main" id="{404036B4-4932-4778-AD41-3E48261AA8CF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4905375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Plataforma web de soporte conversacional.</a:t>
            </a:r>
          </a:p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Carga de documentos y preguntas frecuentes.</a:t>
            </a:r>
          </a:p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Respuestas con RAG y un modelo de lenguaje.</a:t>
            </a:r>
          </a:p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Separación de la información por empresa.</a:t>
            </a:r>
          </a:p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Derivación a Corestream o a una integración simulada.</a:t>
            </a:r>
          </a:p>
        </p:txBody>
      </p:sp>
      <p:sp>
        <p:nvSpPr>
          <p:cNvPr id="143" name="limits-heading">
            <a:extLst>
              <a:ext uri="{FF2B5EF4-FFF2-40B4-BE49-F238E27FC236}">
                <a16:creationId xmlns:a16="http://schemas.microsoft.com/office/drawing/2014/main" id="{CE26221D-8CD0-4493-A472-5B71280E99F0}"/>
              </a:ext>
            </a:extLst>
          </p:cNvPr>
          <p:cNvSpPr>
            <a:spLocks noGrp="1"/>
          </p:cNvSpPr>
          <p:nvPr/>
        </p:nvSpPr>
        <p:spPr>
          <a:xfrm>
            <a:off x="6572250" y="2047875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827"/>
          </a:bodyPr>
          <a:lstStyle/>
          <a:p>
            <a:pPr algn="l">
              <a:defRPr sz="2025" b="1">
                <a:solidFill>
                  <a:srgbClr val="0F9F9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F9F9A"/>
                </a:solidFill>
                <a:latin typeface="Segoe UI"/>
                <a:ea typeface="Segoe UI"/>
                <a:cs typeface="Segoe UI"/>
              </a:rPr>
              <a:t>Limitaciones y supuestos</a:t>
            </a:r>
          </a:p>
        </p:txBody>
      </p:sp>
      <p:sp>
        <p:nvSpPr>
          <p:cNvPr id="144" name="limits-body">
            <a:extLst>
              <a:ext uri="{FF2B5EF4-FFF2-40B4-BE49-F238E27FC236}">
                <a16:creationId xmlns:a16="http://schemas.microsoft.com/office/drawing/2014/main" id="{33EB1B90-6477-4A4A-99E6-24EB14C3C9AC}"/>
              </a:ext>
            </a:extLst>
          </p:cNvPr>
          <p:cNvSpPr>
            <a:spLocks noGrp="1"/>
          </p:cNvSpPr>
          <p:nvPr/>
        </p:nvSpPr>
        <p:spPr>
          <a:xfrm>
            <a:off x="6629400" y="2619375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El MVP comenzará con un canal y un cliente.</a:t>
            </a:r>
          </a:p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No existe contacto directo con la empresa.</a:t>
            </a:r>
          </a:p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La integración real depende de credenciales y documentación disponible.</a:t>
            </a:r>
          </a:p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El costo de las API puede limitar las pruebas.</a:t>
            </a:r>
          </a:p>
          <a:p>
            <a:pPr algn="l">
              <a:defRPr sz="1425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• El chatbot mantiene la derivación a soporte humano.</a:t>
            </a:r>
          </a:p>
        </p:txBody>
      </p:sp>
      <p:sp>
        <p:nvSpPr>
          <p:cNvPr id="145" name="scope-note">
            <a:extLst>
              <a:ext uri="{FF2B5EF4-FFF2-40B4-BE49-F238E27FC236}">
                <a16:creationId xmlns:a16="http://schemas.microsoft.com/office/drawing/2014/main" id="{9D68B322-915B-466A-85A8-5E6EDF34ABE4}"/>
              </a:ext>
            </a:extLst>
          </p:cNvPr>
          <p:cNvSpPr>
            <a:spLocks noGrp="1"/>
          </p:cNvSpPr>
          <p:nvPr/>
        </p:nvSpPr>
        <p:spPr>
          <a:xfrm>
            <a:off x="1714500" y="5905500"/>
            <a:ext cx="8763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El alcance crecerá por etapas después de validar el flujo principal.</a:t>
            </a:r>
          </a:p>
        </p:txBody>
      </p:sp>
    </p:spTree>
    <p:extLst>
      <p:ext uri="{BB962C8B-B14F-4D97-AF65-F5344CB8AC3E}">
        <p14:creationId xmlns:p14="http://schemas.microsoft.com/office/powerpoint/2010/main" val="128655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38;p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  <a:ln>
            <a:noFill/>
          </a:ln>
        </p:spPr>
      </p:pic>
      <p:sp>
        <p:nvSpPr>
          <p:cNvPr id="139" name="Google Shape;139;p6">
            <a:extLst>
              <a:ext uri="{FF2B5EF4-FFF2-40B4-BE49-F238E27FC236}">
                <a16:creationId xmlns:a16="http://schemas.microsoft.com/office/drawing/2014/main" id="{40E741DC-E9A3-4249-B14C-FB2EC3E2DC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>
            <a:extLst>
              <a:ext uri="{FF2B5EF4-FFF2-40B4-BE49-F238E27FC236}">
                <a16:creationId xmlns:a16="http://schemas.microsoft.com/office/drawing/2014/main" id="{4A91FC1F-159D-4391-88B3-4DC3580428B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287000" cy="64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Metodología de trabajo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77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ln w="0" cap="flat">
            <a:noFill/>
            <a:miter/>
            <a:headEnd type="none" w="sm" len="sm"/>
            <a:tailEnd type="none" w="sm" len="sm"/>
          </a:ln>
        </p:spPr>
      </p:cxnSp>
      <p:sp>
        <p:nvSpPr>
          <p:cNvPr id="143" name="header-surface-6">
            <a:extLst>
              <a:ext uri="{FF2B5EF4-FFF2-40B4-BE49-F238E27FC236}">
                <a16:creationId xmlns:a16="http://schemas.microsoft.com/office/drawing/2014/main" id="{DE5AE9B3-FCBD-474F-BF7A-4512AE2DA1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4" name="header-accent-6">
            <a:extLst>
              <a:ext uri="{FF2B5EF4-FFF2-40B4-BE49-F238E27FC236}">
                <a16:creationId xmlns:a16="http://schemas.microsoft.com/office/drawing/2014/main" id="{4AD348D6-88D9-4059-857D-E2F5B01E2B0D}"/>
              </a:ext>
            </a:extLst>
          </p:cNvPr>
          <p:cNvSpPr>
            <a:spLocks noGrp="1"/>
          </p:cNvSpPr>
          <p:nvPr/>
        </p:nvSpPr>
        <p:spPr>
          <a:xfrm>
            <a:off x="0" y="981075"/>
            <a:ext cx="12192000" cy="47625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5" name="header-title-6">
            <a:extLst>
              <a:ext uri="{FF2B5EF4-FFF2-40B4-BE49-F238E27FC236}">
                <a16:creationId xmlns:a16="http://schemas.microsoft.com/office/drawing/2014/main" id="{D5215D34-F0C7-448F-B738-54202576C00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CHAT DE SOPORTE GENÉRICO ALLOXENTRIC</a:t>
            </a:r>
          </a:p>
        </p:txBody>
      </p:sp>
      <p:pic>
        <p:nvPicPr>
          <p:cNvPr id="181" name="Imagen 18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</p:spPr>
      </p:pic>
      <p:sp>
        <p:nvSpPr>
          <p:cNvPr id="147" name="footer-6">
            <a:extLst>
              <a:ext uri="{FF2B5EF4-FFF2-40B4-BE49-F238E27FC236}">
                <a16:creationId xmlns:a16="http://schemas.microsoft.com/office/drawing/2014/main" id="{25F94050-0B10-4A59-9328-23B62EA9A70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53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939" lnSpcReduction="10000"/>
          </a:bodyPr>
          <a:lstStyle/>
          <a:p>
            <a:pPr algn="l">
              <a:defRPr sz="8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APT122   Ingeniería en Informática                                      6/8</a:t>
            </a:r>
          </a:p>
        </p:txBody>
      </p:sp>
      <p:sp>
        <p:nvSpPr>
          <p:cNvPr id="148" name="method-intro">
            <a:extLst>
              <a:ext uri="{FF2B5EF4-FFF2-40B4-BE49-F238E27FC236}">
                <a16:creationId xmlns:a16="http://schemas.microsoft.com/office/drawing/2014/main" id="{B4A0879C-D80D-41F1-91F7-879003659C82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Trabajo ágil en ciclos de dos semanas, con tareas y responsables registrados en GitHub.</a:t>
            </a:r>
          </a:p>
        </p:txBody>
      </p:sp>
      <p:sp>
        <p:nvSpPr>
          <p:cNvPr id="149" name="method-step-1">
            <a:extLst>
              <a:ext uri="{FF2B5EF4-FFF2-40B4-BE49-F238E27FC236}">
                <a16:creationId xmlns:a16="http://schemas.microsoft.com/office/drawing/2014/main" id="{87925800-CDB4-43E0-B054-A87B39D1C0D4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552450" cy="55245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0" name="method-number-1">
            <a:extLst>
              <a:ext uri="{FF2B5EF4-FFF2-40B4-BE49-F238E27FC236}">
                <a16:creationId xmlns:a16="http://schemas.microsoft.com/office/drawing/2014/main" id="{FAEB33FA-CE16-4EFF-9A9F-F572540D4C4D}"/>
              </a:ext>
            </a:extLst>
          </p:cNvPr>
          <p:cNvSpPr>
            <a:spLocks noGrp="1"/>
          </p:cNvSpPr>
          <p:nvPr/>
        </p:nvSpPr>
        <p:spPr>
          <a:xfrm>
            <a:off x="800100" y="2771775"/>
            <a:ext cx="5524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51" name="method-label-1">
            <a:extLst>
              <a:ext uri="{FF2B5EF4-FFF2-40B4-BE49-F238E27FC236}">
                <a16:creationId xmlns:a16="http://schemas.microsoft.com/office/drawing/2014/main" id="{F5B4DDAB-20FD-484A-9476-2E4FA9F720C5}"/>
              </a:ext>
            </a:extLst>
          </p:cNvPr>
          <p:cNvSpPr>
            <a:spLocks noGrp="1"/>
          </p:cNvSpPr>
          <p:nvPr/>
        </p:nvSpPr>
        <p:spPr>
          <a:xfrm>
            <a:off x="323850" y="347662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Alcance y</a:t>
            </a:r>
          </a:p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requerimientos</a:t>
            </a:r>
          </a:p>
        </p:txBody>
      </p:sp>
      <p:sp>
        <p:nvSpPr>
          <p:cNvPr id="152" name="method-arrow-1">
            <a:extLst>
              <a:ext uri="{FF2B5EF4-FFF2-40B4-BE49-F238E27FC236}">
                <a16:creationId xmlns:a16="http://schemas.microsoft.com/office/drawing/2014/main" id="{037DC56C-F437-47AC-92A7-C2071C1D579E}"/>
              </a:ext>
            </a:extLst>
          </p:cNvPr>
          <p:cNvSpPr>
            <a:spLocks noGrp="1"/>
          </p:cNvSpPr>
          <p:nvPr/>
        </p:nvSpPr>
        <p:spPr>
          <a:xfrm>
            <a:off x="1590675" y="2857500"/>
            <a:ext cx="495300" cy="190500"/>
          </a:xfrm>
          <a:prstGeom prst="rightArrow">
            <a:avLst/>
          </a:prstGeom>
          <a:solidFill>
            <a:srgbClr val="9CC9E8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3" name="method-step-2">
            <a:extLst>
              <a:ext uri="{FF2B5EF4-FFF2-40B4-BE49-F238E27FC236}">
                <a16:creationId xmlns:a16="http://schemas.microsoft.com/office/drawing/2014/main" id="{09BEA58A-114B-495B-BE72-125B6ED29506}"/>
              </a:ext>
            </a:extLst>
          </p:cNvPr>
          <p:cNvSpPr>
            <a:spLocks noGrp="1"/>
          </p:cNvSpPr>
          <p:nvPr/>
        </p:nvSpPr>
        <p:spPr>
          <a:xfrm>
            <a:off x="2609850" y="2686050"/>
            <a:ext cx="552450" cy="55245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4" name="method-number-2">
            <a:extLst>
              <a:ext uri="{FF2B5EF4-FFF2-40B4-BE49-F238E27FC236}">
                <a16:creationId xmlns:a16="http://schemas.microsoft.com/office/drawing/2014/main" id="{3F4B03F7-3D15-4E35-A20F-208D194B632B}"/>
              </a:ext>
            </a:extLst>
          </p:cNvPr>
          <p:cNvSpPr>
            <a:spLocks noGrp="1"/>
          </p:cNvSpPr>
          <p:nvPr/>
        </p:nvSpPr>
        <p:spPr>
          <a:xfrm>
            <a:off x="2609850" y="2771775"/>
            <a:ext cx="5524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55" name="method-label-2">
            <a:extLst>
              <a:ext uri="{FF2B5EF4-FFF2-40B4-BE49-F238E27FC236}">
                <a16:creationId xmlns:a16="http://schemas.microsoft.com/office/drawing/2014/main" id="{5AB3A09F-4921-48AF-9B67-41E847E03ED8}"/>
              </a:ext>
            </a:extLst>
          </p:cNvPr>
          <p:cNvSpPr>
            <a:spLocks noGrp="1"/>
          </p:cNvSpPr>
          <p:nvPr/>
        </p:nvSpPr>
        <p:spPr>
          <a:xfrm>
            <a:off x="2133600" y="347662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Arquitectura y</a:t>
            </a:r>
          </a:p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modelo de datos</a:t>
            </a:r>
          </a:p>
        </p:txBody>
      </p:sp>
      <p:sp>
        <p:nvSpPr>
          <p:cNvPr id="156" name="method-arrow-2">
            <a:extLst>
              <a:ext uri="{FF2B5EF4-FFF2-40B4-BE49-F238E27FC236}">
                <a16:creationId xmlns:a16="http://schemas.microsoft.com/office/drawing/2014/main" id="{D8BB8460-F48A-45D6-8B84-6B03AB564866}"/>
              </a:ext>
            </a:extLst>
          </p:cNvPr>
          <p:cNvSpPr>
            <a:spLocks noGrp="1"/>
          </p:cNvSpPr>
          <p:nvPr/>
        </p:nvSpPr>
        <p:spPr>
          <a:xfrm>
            <a:off x="3400425" y="2857500"/>
            <a:ext cx="495300" cy="190500"/>
          </a:xfrm>
          <a:prstGeom prst="rightArrow">
            <a:avLst/>
          </a:prstGeom>
          <a:solidFill>
            <a:srgbClr val="9CC9E8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7" name="method-step-3">
            <a:extLst>
              <a:ext uri="{FF2B5EF4-FFF2-40B4-BE49-F238E27FC236}">
                <a16:creationId xmlns:a16="http://schemas.microsoft.com/office/drawing/2014/main" id="{7EFA796B-F15E-4B25-A330-298D286634A2}"/>
              </a:ext>
            </a:extLst>
          </p:cNvPr>
          <p:cNvSpPr>
            <a:spLocks noGrp="1"/>
          </p:cNvSpPr>
          <p:nvPr/>
        </p:nvSpPr>
        <p:spPr>
          <a:xfrm>
            <a:off x="4419600" y="2686050"/>
            <a:ext cx="552450" cy="55245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8" name="method-number-3">
            <a:extLst>
              <a:ext uri="{FF2B5EF4-FFF2-40B4-BE49-F238E27FC236}">
                <a16:creationId xmlns:a16="http://schemas.microsoft.com/office/drawing/2014/main" id="{E6C767B6-7C79-435D-AD51-7AC42B83C5D1}"/>
              </a:ext>
            </a:extLst>
          </p:cNvPr>
          <p:cNvSpPr>
            <a:spLocks noGrp="1"/>
          </p:cNvSpPr>
          <p:nvPr/>
        </p:nvSpPr>
        <p:spPr>
          <a:xfrm>
            <a:off x="4419600" y="2771775"/>
            <a:ext cx="5524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59" name="method-label-3">
            <a:extLst>
              <a:ext uri="{FF2B5EF4-FFF2-40B4-BE49-F238E27FC236}">
                <a16:creationId xmlns:a16="http://schemas.microsoft.com/office/drawing/2014/main" id="{67DF1DD4-DFF3-4BB0-AECE-756E1DBFFA2B}"/>
              </a:ext>
            </a:extLst>
          </p:cNvPr>
          <p:cNvSpPr>
            <a:spLocks noGrp="1"/>
          </p:cNvSpPr>
          <p:nvPr/>
        </p:nvSpPr>
        <p:spPr>
          <a:xfrm>
            <a:off x="3943350" y="347662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Plataforma</a:t>
            </a:r>
          </a:p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base</a:t>
            </a:r>
          </a:p>
        </p:txBody>
      </p:sp>
      <p:sp>
        <p:nvSpPr>
          <p:cNvPr id="160" name="method-arrow-3">
            <a:extLst>
              <a:ext uri="{FF2B5EF4-FFF2-40B4-BE49-F238E27FC236}">
                <a16:creationId xmlns:a16="http://schemas.microsoft.com/office/drawing/2014/main" id="{073E2FF1-7271-40B8-AC5B-FD513CBEF21B}"/>
              </a:ext>
            </a:extLst>
          </p:cNvPr>
          <p:cNvSpPr>
            <a:spLocks noGrp="1"/>
          </p:cNvSpPr>
          <p:nvPr/>
        </p:nvSpPr>
        <p:spPr>
          <a:xfrm>
            <a:off x="5210175" y="2857500"/>
            <a:ext cx="495300" cy="190500"/>
          </a:xfrm>
          <a:prstGeom prst="rightArrow">
            <a:avLst/>
          </a:prstGeom>
          <a:solidFill>
            <a:srgbClr val="9CC9E8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1" name="method-step-4">
            <a:extLst>
              <a:ext uri="{FF2B5EF4-FFF2-40B4-BE49-F238E27FC236}">
                <a16:creationId xmlns:a16="http://schemas.microsoft.com/office/drawing/2014/main" id="{C2D284B0-0806-4E12-A843-48B2085869CB}"/>
              </a:ext>
            </a:extLst>
          </p:cNvPr>
          <p:cNvSpPr>
            <a:spLocks noGrp="1"/>
          </p:cNvSpPr>
          <p:nvPr/>
        </p:nvSpPr>
        <p:spPr>
          <a:xfrm>
            <a:off x="6229350" y="2686050"/>
            <a:ext cx="552450" cy="55245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2" name="method-number-4">
            <a:extLst>
              <a:ext uri="{FF2B5EF4-FFF2-40B4-BE49-F238E27FC236}">
                <a16:creationId xmlns:a16="http://schemas.microsoft.com/office/drawing/2014/main" id="{F8A26539-04BF-460F-AF93-A4891FC3F45B}"/>
              </a:ext>
            </a:extLst>
          </p:cNvPr>
          <p:cNvSpPr>
            <a:spLocks noGrp="1"/>
          </p:cNvSpPr>
          <p:nvPr/>
        </p:nvSpPr>
        <p:spPr>
          <a:xfrm>
            <a:off x="6229350" y="2771775"/>
            <a:ext cx="5524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63" name="method-label-4">
            <a:extLst>
              <a:ext uri="{FF2B5EF4-FFF2-40B4-BE49-F238E27FC236}">
                <a16:creationId xmlns:a16="http://schemas.microsoft.com/office/drawing/2014/main" id="{72ADF785-D213-4AD3-81F6-DF158BC48DF9}"/>
              </a:ext>
            </a:extLst>
          </p:cNvPr>
          <p:cNvSpPr>
            <a:spLocks noGrp="1"/>
          </p:cNvSpPr>
          <p:nvPr/>
        </p:nvSpPr>
        <p:spPr>
          <a:xfrm>
            <a:off x="5753100" y="347662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RAG y modelo</a:t>
            </a:r>
          </a:p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 lenguaje</a:t>
            </a:r>
          </a:p>
        </p:txBody>
      </p:sp>
      <p:sp>
        <p:nvSpPr>
          <p:cNvPr id="164" name="method-arrow-4">
            <a:extLst>
              <a:ext uri="{FF2B5EF4-FFF2-40B4-BE49-F238E27FC236}">
                <a16:creationId xmlns:a16="http://schemas.microsoft.com/office/drawing/2014/main" id="{820845F8-95EC-47CA-9886-F0F8C1D9C2E5}"/>
              </a:ext>
            </a:extLst>
          </p:cNvPr>
          <p:cNvSpPr>
            <a:spLocks noGrp="1"/>
          </p:cNvSpPr>
          <p:nvPr/>
        </p:nvSpPr>
        <p:spPr>
          <a:xfrm>
            <a:off x="7019925" y="2857500"/>
            <a:ext cx="495300" cy="190500"/>
          </a:xfrm>
          <a:prstGeom prst="rightArrow">
            <a:avLst/>
          </a:prstGeom>
          <a:solidFill>
            <a:srgbClr val="9CC9E8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5" name="method-step-5">
            <a:extLst>
              <a:ext uri="{FF2B5EF4-FFF2-40B4-BE49-F238E27FC236}">
                <a16:creationId xmlns:a16="http://schemas.microsoft.com/office/drawing/2014/main" id="{812E518F-0E53-4A1C-A448-668893467DC2}"/>
              </a:ext>
            </a:extLst>
          </p:cNvPr>
          <p:cNvSpPr>
            <a:spLocks noGrp="1"/>
          </p:cNvSpPr>
          <p:nvPr/>
        </p:nvSpPr>
        <p:spPr>
          <a:xfrm>
            <a:off x="8039100" y="2686050"/>
            <a:ext cx="552450" cy="552450"/>
          </a:xfrm>
          <a:prstGeom prst="ellipse">
            <a:avLst/>
          </a:prstGeom>
          <a:solidFill>
            <a:srgbClr val="0F9F9A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6" name="method-number-5">
            <a:extLst>
              <a:ext uri="{FF2B5EF4-FFF2-40B4-BE49-F238E27FC236}">
                <a16:creationId xmlns:a16="http://schemas.microsoft.com/office/drawing/2014/main" id="{19FAE719-02AB-4D6C-9EFF-69A94A5C1477}"/>
              </a:ext>
            </a:extLst>
          </p:cNvPr>
          <p:cNvSpPr>
            <a:spLocks noGrp="1"/>
          </p:cNvSpPr>
          <p:nvPr/>
        </p:nvSpPr>
        <p:spPr>
          <a:xfrm>
            <a:off x="8039100" y="2771775"/>
            <a:ext cx="5524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67" name="method-label-5">
            <a:extLst>
              <a:ext uri="{FF2B5EF4-FFF2-40B4-BE49-F238E27FC236}">
                <a16:creationId xmlns:a16="http://schemas.microsoft.com/office/drawing/2014/main" id="{31FE4EB9-CB53-4D4F-8C8B-CBE468B5EC4F}"/>
              </a:ext>
            </a:extLst>
          </p:cNvPr>
          <p:cNvSpPr>
            <a:spLocks noGrp="1"/>
          </p:cNvSpPr>
          <p:nvPr/>
        </p:nvSpPr>
        <p:spPr>
          <a:xfrm>
            <a:off x="7562850" y="347662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Corestream y</a:t>
            </a:r>
          </a:p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pruebas</a:t>
            </a:r>
          </a:p>
        </p:txBody>
      </p:sp>
      <p:sp>
        <p:nvSpPr>
          <p:cNvPr id="168" name="method-arrow-5">
            <a:extLst>
              <a:ext uri="{FF2B5EF4-FFF2-40B4-BE49-F238E27FC236}">
                <a16:creationId xmlns:a16="http://schemas.microsoft.com/office/drawing/2014/main" id="{306DC067-391C-469C-8154-5A99AD8AD5F5}"/>
              </a:ext>
            </a:extLst>
          </p:cNvPr>
          <p:cNvSpPr>
            <a:spLocks noGrp="1"/>
          </p:cNvSpPr>
          <p:nvPr/>
        </p:nvSpPr>
        <p:spPr>
          <a:xfrm>
            <a:off x="8829675" y="2857500"/>
            <a:ext cx="495300" cy="190500"/>
          </a:xfrm>
          <a:prstGeom prst="rightArrow">
            <a:avLst/>
          </a:prstGeom>
          <a:solidFill>
            <a:srgbClr val="9CC9E8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9" name="method-step-6">
            <a:extLst>
              <a:ext uri="{FF2B5EF4-FFF2-40B4-BE49-F238E27FC236}">
                <a16:creationId xmlns:a16="http://schemas.microsoft.com/office/drawing/2014/main" id="{E4C042C0-3087-4521-8A49-23304CCB3AFF}"/>
              </a:ext>
            </a:extLst>
          </p:cNvPr>
          <p:cNvSpPr>
            <a:spLocks noGrp="1"/>
          </p:cNvSpPr>
          <p:nvPr/>
        </p:nvSpPr>
        <p:spPr>
          <a:xfrm>
            <a:off x="9848850" y="2686050"/>
            <a:ext cx="552450" cy="552450"/>
          </a:xfrm>
          <a:prstGeom prst="ellipse">
            <a:avLst/>
          </a:prstGeom>
          <a:solidFill>
            <a:srgbClr val="0F9F9A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0" name="method-number-6">
            <a:extLst>
              <a:ext uri="{FF2B5EF4-FFF2-40B4-BE49-F238E27FC236}">
                <a16:creationId xmlns:a16="http://schemas.microsoft.com/office/drawing/2014/main" id="{C0F0E024-385E-452C-B1D6-2C5E9FC4A75B}"/>
              </a:ext>
            </a:extLst>
          </p:cNvPr>
          <p:cNvSpPr>
            <a:spLocks noGrp="1"/>
          </p:cNvSpPr>
          <p:nvPr/>
        </p:nvSpPr>
        <p:spPr>
          <a:xfrm>
            <a:off x="9848850" y="2771775"/>
            <a:ext cx="5524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71" name="method-label-6">
            <a:extLst>
              <a:ext uri="{FF2B5EF4-FFF2-40B4-BE49-F238E27FC236}">
                <a16:creationId xmlns:a16="http://schemas.microsoft.com/office/drawing/2014/main" id="{8813A9F8-36D7-4BDF-BBFE-4F4B8663CE2D}"/>
              </a:ext>
            </a:extLst>
          </p:cNvPr>
          <p:cNvSpPr>
            <a:spLocks noGrp="1"/>
          </p:cNvSpPr>
          <p:nvPr/>
        </p:nvSpPr>
        <p:spPr>
          <a:xfrm>
            <a:off x="9372600" y="347662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Ajustes y</a:t>
            </a:r>
          </a:p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documentación</a:t>
            </a:r>
          </a:p>
        </p:txBody>
      </p:sp>
      <p:sp>
        <p:nvSpPr>
          <p:cNvPr id="172" name="method-review">
            <a:extLst>
              <a:ext uri="{FF2B5EF4-FFF2-40B4-BE49-F238E27FC236}">
                <a16:creationId xmlns:a16="http://schemas.microsoft.com/office/drawing/2014/main" id="{C2C7C113-45FA-4B62-AE72-E43B315A105D}"/>
              </a:ext>
            </a:extLst>
          </p:cNvPr>
          <p:cNvSpPr>
            <a:spLocks noGrp="1"/>
          </p:cNvSpPr>
          <p:nvPr/>
        </p:nvSpPr>
        <p:spPr>
          <a:xfrm>
            <a:off x="1000125" y="4457700"/>
            <a:ext cx="1019175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4288">
            <a:solidFill>
              <a:srgbClr val="D9E3F0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Al terminar cada ciclo revisaremos resultados, ejecutaremos pruebas y ajustaremos la planificación con la retroalimentación recibida.</a:t>
            </a:r>
          </a:p>
        </p:txBody>
      </p:sp>
      <p:sp>
        <p:nvSpPr>
          <p:cNvPr id="173" name="method-roles">
            <a:extLst>
              <a:ext uri="{FF2B5EF4-FFF2-40B4-BE49-F238E27FC236}">
                <a16:creationId xmlns:a16="http://schemas.microsoft.com/office/drawing/2014/main" id="{B9FF860B-D9EB-4D96-B6D2-CDBEB0EF44EF}"/>
              </a:ext>
            </a:extLst>
          </p:cNvPr>
          <p:cNvSpPr>
            <a:spLocks noGrp="1"/>
          </p:cNvSpPr>
          <p:nvPr/>
        </p:nvSpPr>
        <p:spPr>
          <a:xfrm>
            <a:off x="781050" y="5381625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Vicente: datos, vectorización, RAG, backend y pruebas     Fabián: aplicación, Corestream, planificación y documentación     Ambos: arquitectura, revisión y presentaciones</a:t>
            </a:r>
          </a:p>
        </p:txBody>
      </p:sp>
    </p:spTree>
    <p:extLst>
      <p:ext uri="{BB962C8B-B14F-4D97-AF65-F5344CB8AC3E}">
        <p14:creationId xmlns:p14="http://schemas.microsoft.com/office/powerpoint/2010/main" val="136698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46;p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  <a:ln>
            <a:noFill/>
          </a:ln>
        </p:spPr>
      </p:pic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10DAE8BD-CDE4-4780-BFDD-979AB441D4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">
            <a:extLst>
              <a:ext uri="{FF2B5EF4-FFF2-40B4-BE49-F238E27FC236}">
                <a16:creationId xmlns:a16="http://schemas.microsoft.com/office/drawing/2014/main" id="{45EC15C0-9322-4272-8AA2-EA1676755C0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287000" cy="64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Cronograma del proyecto</a:t>
            </a:r>
            <a:endParaRPr/>
          </a:p>
        </p:txBody>
      </p:sp>
      <p:cxnSp>
        <p:nvCxnSpPr>
          <p:cNvPr id="161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ln w="0" cap="flat">
            <a:noFill/>
            <a:miter/>
            <a:headEnd type="none" w="sm" len="sm"/>
            <a:tailEnd type="none" w="sm" len="sm"/>
          </a:ln>
        </p:spPr>
      </p:cxnSp>
      <p:sp>
        <p:nvSpPr>
          <p:cNvPr id="151" name="header-surface-7">
            <a:extLst>
              <a:ext uri="{FF2B5EF4-FFF2-40B4-BE49-F238E27FC236}">
                <a16:creationId xmlns:a16="http://schemas.microsoft.com/office/drawing/2014/main" id="{91A1B93D-5207-4D0C-B6B0-9A4067DB2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2" name="header-accent-7">
            <a:extLst>
              <a:ext uri="{FF2B5EF4-FFF2-40B4-BE49-F238E27FC236}">
                <a16:creationId xmlns:a16="http://schemas.microsoft.com/office/drawing/2014/main" id="{DD93555B-70BF-4CAA-ACA6-C6CFFD77DB0D}"/>
              </a:ext>
            </a:extLst>
          </p:cNvPr>
          <p:cNvSpPr>
            <a:spLocks noGrp="1"/>
          </p:cNvSpPr>
          <p:nvPr/>
        </p:nvSpPr>
        <p:spPr>
          <a:xfrm>
            <a:off x="0" y="981075"/>
            <a:ext cx="12192000" cy="47625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3" name="header-title-7">
            <a:extLst>
              <a:ext uri="{FF2B5EF4-FFF2-40B4-BE49-F238E27FC236}">
                <a16:creationId xmlns:a16="http://schemas.microsoft.com/office/drawing/2014/main" id="{F9D2E209-CB76-4CF2-BDC6-3614454FE1C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CHAT DE SOPORTE GENÉRICO ALLOXENTRIC</a:t>
            </a:r>
          </a:p>
        </p:txBody>
      </p:sp>
      <p:pic>
        <p:nvPicPr>
          <p:cNvPr id="165" name="Imagen 16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</p:spPr>
      </p:pic>
      <p:sp>
        <p:nvSpPr>
          <p:cNvPr id="155" name="footer-7">
            <a:extLst>
              <a:ext uri="{FF2B5EF4-FFF2-40B4-BE49-F238E27FC236}">
                <a16:creationId xmlns:a16="http://schemas.microsoft.com/office/drawing/2014/main" id="{CF8B3B9F-6C12-4874-8A1F-8757E093BFA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53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939" lnSpcReduction="10000"/>
          </a:bodyPr>
          <a:lstStyle/>
          <a:p>
            <a:pPr algn="l">
              <a:defRPr sz="8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APT122   Ingeniería en Informática                                      7/8</a:t>
            </a:r>
          </a:p>
        </p:txBody>
      </p:sp>
      <p:sp>
        <p:nvSpPr>
          <p:cNvPr id="156" name="gantt-intro">
            <a:extLst>
              <a:ext uri="{FF2B5EF4-FFF2-40B4-BE49-F238E27FC236}">
                <a16:creationId xmlns:a16="http://schemas.microsoft.com/office/drawing/2014/main" id="{E6C1733C-BF32-4516-B23D-4C35F9A930F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Plan inicial de 18 semanas organizado según las tres fases de la asignatura.</a:t>
            </a:r>
          </a:p>
        </p:txBody>
      </p:sp>
      <p:pic>
        <p:nvPicPr>
          <p:cNvPr id="168" name="Imagen 16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30528" y="2171700"/>
            <a:ext cx="7930944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54;p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  <a:ln>
            <a:noFill/>
          </a:ln>
        </p:spPr>
      </p:pic>
      <p:sp>
        <p:nvSpPr>
          <p:cNvPr id="155" name="Google Shape;155;p8">
            <a:extLst>
              <a:ext uri="{FF2B5EF4-FFF2-40B4-BE49-F238E27FC236}">
                <a16:creationId xmlns:a16="http://schemas.microsoft.com/office/drawing/2014/main" id="{0E051FCC-2D32-4B9A-8E2C-8D441FC6CE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>
            <a:extLst>
              <a:ext uri="{FF2B5EF4-FFF2-40B4-BE49-F238E27FC236}">
                <a16:creationId xmlns:a16="http://schemas.microsoft.com/office/drawing/2014/main" id="{52CAEF11-E396-4CFE-970D-B8B15FF4BE3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287000" cy="64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Arquitectura propuesta del software</a:t>
            </a:r>
            <a:endParaRPr/>
          </a:p>
        </p:txBody>
      </p:sp>
      <p:cxnSp>
        <p:nvCxnSpPr>
          <p:cNvPr id="188" name="Google Shape;157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ln w="0" cap="flat">
            <a:noFill/>
            <a:miter/>
            <a:headEnd type="none" w="sm" len="sm"/>
            <a:tailEnd type="none" w="sm" len="sm"/>
          </a:ln>
        </p:spPr>
      </p:cxnSp>
      <p:sp>
        <p:nvSpPr>
          <p:cNvPr id="159" name="header-surface-8">
            <a:extLst>
              <a:ext uri="{FF2B5EF4-FFF2-40B4-BE49-F238E27FC236}">
                <a16:creationId xmlns:a16="http://schemas.microsoft.com/office/drawing/2014/main" id="{74453872-5B37-4759-9B06-8A8C16DF4C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0" name="header-accent-8">
            <a:extLst>
              <a:ext uri="{FF2B5EF4-FFF2-40B4-BE49-F238E27FC236}">
                <a16:creationId xmlns:a16="http://schemas.microsoft.com/office/drawing/2014/main" id="{747B1C42-4197-4F01-9594-792FB9A1BD7C}"/>
              </a:ext>
            </a:extLst>
          </p:cNvPr>
          <p:cNvSpPr>
            <a:spLocks noGrp="1"/>
          </p:cNvSpPr>
          <p:nvPr/>
        </p:nvSpPr>
        <p:spPr>
          <a:xfrm>
            <a:off x="0" y="981075"/>
            <a:ext cx="12192000" cy="47625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1" name="header-title-8">
            <a:extLst>
              <a:ext uri="{FF2B5EF4-FFF2-40B4-BE49-F238E27FC236}">
                <a16:creationId xmlns:a16="http://schemas.microsoft.com/office/drawing/2014/main" id="{48919592-C03A-4817-AFC7-84E14D17D60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CHAT DE SOPORTE GENÉRICO ALLOXENTRIC</a:t>
            </a:r>
          </a:p>
        </p:txBody>
      </p:sp>
      <p:pic>
        <p:nvPicPr>
          <p:cNvPr id="192" name="Imagen 19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0150" y="171450"/>
            <a:ext cx="2857500" cy="714375"/>
          </a:xfrm>
          <a:prstGeom prst="rect">
            <a:avLst/>
          </a:prstGeom>
        </p:spPr>
      </p:pic>
      <p:sp>
        <p:nvSpPr>
          <p:cNvPr id="163" name="footer-8">
            <a:extLst>
              <a:ext uri="{FF2B5EF4-FFF2-40B4-BE49-F238E27FC236}">
                <a16:creationId xmlns:a16="http://schemas.microsoft.com/office/drawing/2014/main" id="{F24CEA46-A683-4C7F-9CA7-45C040C6A703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53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939" lnSpcReduction="10000"/>
          </a:bodyPr>
          <a:lstStyle/>
          <a:p>
            <a:pPr algn="l">
              <a:defRPr sz="8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APT122   Ingeniería en Informática                                      8/8</a:t>
            </a:r>
          </a:p>
        </p:txBody>
      </p:sp>
      <p:sp>
        <p:nvSpPr>
          <p:cNvPr id="164" name="architecture-intro">
            <a:extLst>
              <a:ext uri="{FF2B5EF4-FFF2-40B4-BE49-F238E27FC236}">
                <a16:creationId xmlns:a16="http://schemas.microsoft.com/office/drawing/2014/main" id="{37188591-AEE2-4CB4-BF65-12E135AB206F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Diseño inicial del MVP, sujeto a validación durante el desarrollo.</a:t>
            </a:r>
          </a:p>
        </p:txBody>
      </p:sp>
      <p:sp>
        <p:nvSpPr>
          <p:cNvPr id="165" name="arch-user">
            <a:extLst>
              <a:ext uri="{FF2B5EF4-FFF2-40B4-BE49-F238E27FC236}">
                <a16:creationId xmlns:a16="http://schemas.microsoft.com/office/drawing/2014/main" id="{1C9C0620-8B5A-42FA-9AAC-A38F1B279578}"/>
              </a:ext>
            </a:extLst>
          </p:cNvPr>
          <p:cNvSpPr>
            <a:spLocks noGrp="1"/>
          </p:cNvSpPr>
          <p:nvPr/>
        </p:nvSpPr>
        <p:spPr>
          <a:xfrm>
            <a:off x="523875" y="2686050"/>
            <a:ext cx="1143000" cy="590550"/>
          </a:xfrm>
          <a:prstGeom prst="roundRect">
            <a:avLst>
              <a:gd name="adj" fmla="val 22581"/>
            </a:avLst>
          </a:prstGeom>
          <a:solidFill>
            <a:srgbClr val="DBEAFE"/>
          </a:solidFill>
          <a:ln w="14288">
            <a:solidFill>
              <a:srgbClr val="83B4F5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Usuario</a:t>
            </a:r>
          </a:p>
        </p:txBody>
      </p:sp>
      <p:sp>
        <p:nvSpPr>
          <p:cNvPr id="166" name="arch-arrow-1">
            <a:extLst>
              <a:ext uri="{FF2B5EF4-FFF2-40B4-BE49-F238E27FC236}">
                <a16:creationId xmlns:a16="http://schemas.microsoft.com/office/drawing/2014/main" id="{A018366A-5BA5-465B-BB3E-CC7A1453C059}"/>
              </a:ext>
            </a:extLst>
          </p:cNvPr>
          <p:cNvSpPr>
            <a:spLocks noGrp="1"/>
          </p:cNvSpPr>
          <p:nvPr/>
        </p:nvSpPr>
        <p:spPr>
          <a:xfrm>
            <a:off x="1781175" y="2876550"/>
            <a:ext cx="419100" cy="190500"/>
          </a:xfrm>
          <a:prstGeom prst="rightArrow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7" name="arch-chat">
            <a:extLst>
              <a:ext uri="{FF2B5EF4-FFF2-40B4-BE49-F238E27FC236}">
                <a16:creationId xmlns:a16="http://schemas.microsoft.com/office/drawing/2014/main" id="{97ED6D23-0F58-4CFF-94E3-F43BAA36BE54}"/>
              </a:ext>
            </a:extLst>
          </p:cNvPr>
          <p:cNvSpPr>
            <a:spLocks noGrp="1"/>
          </p:cNvSpPr>
          <p:nvPr/>
        </p:nvSpPr>
        <p:spPr>
          <a:xfrm>
            <a:off x="2333625" y="2590800"/>
            <a:ext cx="1381125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4288">
            <a:solidFill>
              <a:srgbClr val="D9E3F0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Interfaz</a:t>
            </a:r>
          </a:p>
          <a:p>
            <a:pPr algn="ctr">
              <a:defRPr sz="13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 chat</a:t>
            </a:r>
          </a:p>
        </p:txBody>
      </p:sp>
      <p:sp>
        <p:nvSpPr>
          <p:cNvPr id="168" name="arch-arrow-2">
            <a:extLst>
              <a:ext uri="{FF2B5EF4-FFF2-40B4-BE49-F238E27FC236}">
                <a16:creationId xmlns:a16="http://schemas.microsoft.com/office/drawing/2014/main" id="{70C6CE87-CD17-4095-BAAB-C4B615C11DEE}"/>
              </a:ext>
            </a:extLst>
          </p:cNvPr>
          <p:cNvSpPr>
            <a:spLocks noGrp="1"/>
          </p:cNvSpPr>
          <p:nvPr/>
        </p:nvSpPr>
        <p:spPr>
          <a:xfrm>
            <a:off x="3829050" y="2876550"/>
            <a:ext cx="419100" cy="190500"/>
          </a:xfrm>
          <a:prstGeom prst="rightArrow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9" name="arch-api">
            <a:extLst>
              <a:ext uri="{FF2B5EF4-FFF2-40B4-BE49-F238E27FC236}">
                <a16:creationId xmlns:a16="http://schemas.microsoft.com/office/drawing/2014/main" id="{DB6C8FE6-8DB6-464E-92A6-07CAB13CC8E7}"/>
              </a:ext>
            </a:extLst>
          </p:cNvPr>
          <p:cNvSpPr>
            <a:spLocks noGrp="1"/>
          </p:cNvSpPr>
          <p:nvPr/>
        </p:nvSpPr>
        <p:spPr>
          <a:xfrm>
            <a:off x="4381500" y="2590800"/>
            <a:ext cx="1476375" cy="781050"/>
          </a:xfrm>
          <a:prstGeom prst="roundRect">
            <a:avLst>
              <a:gd name="adj" fmla="val 17073"/>
            </a:avLst>
          </a:prstGeom>
          <a:solidFill>
            <a:srgbClr val="EAF1FF"/>
          </a:solidFill>
          <a:ln w="14288">
            <a:solidFill>
              <a:srgbClr val="83B4F5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Backend</a:t>
            </a:r>
          </a:p>
          <a:p>
            <a:pPr algn="ctr">
              <a:defRPr sz="13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170" name="arch-arrow-3">
            <a:extLst>
              <a:ext uri="{FF2B5EF4-FFF2-40B4-BE49-F238E27FC236}">
                <a16:creationId xmlns:a16="http://schemas.microsoft.com/office/drawing/2014/main" id="{6DB79084-2A69-4B5F-AB6E-392744DC821C}"/>
              </a:ext>
            </a:extLst>
          </p:cNvPr>
          <p:cNvSpPr>
            <a:spLocks noGrp="1"/>
          </p:cNvSpPr>
          <p:nvPr/>
        </p:nvSpPr>
        <p:spPr>
          <a:xfrm>
            <a:off x="5972175" y="2876550"/>
            <a:ext cx="419100" cy="190500"/>
          </a:xfrm>
          <a:prstGeom prst="rightArrow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1" name="arch-rag">
            <a:extLst>
              <a:ext uri="{FF2B5EF4-FFF2-40B4-BE49-F238E27FC236}">
                <a16:creationId xmlns:a16="http://schemas.microsoft.com/office/drawing/2014/main" id="{02457BBC-15A5-4789-B14B-139EA3A9E4C3}"/>
              </a:ext>
            </a:extLst>
          </p:cNvPr>
          <p:cNvSpPr>
            <a:spLocks noGrp="1"/>
          </p:cNvSpPr>
          <p:nvPr/>
        </p:nvSpPr>
        <p:spPr>
          <a:xfrm>
            <a:off x="6524625" y="2590800"/>
            <a:ext cx="1619250" cy="781050"/>
          </a:xfrm>
          <a:prstGeom prst="roundRect">
            <a:avLst>
              <a:gd name="adj" fmla="val 17073"/>
            </a:avLst>
          </a:prstGeom>
          <a:solidFill>
            <a:srgbClr val="ECFEFF"/>
          </a:solidFill>
          <a:ln w="14288">
            <a:solidFill>
              <a:srgbClr val="67D7E7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Motor RAG</a:t>
            </a:r>
          </a:p>
          <a:p>
            <a:pPr algn="ctr">
              <a:defRPr sz="13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por empresa</a:t>
            </a:r>
          </a:p>
        </p:txBody>
      </p:sp>
      <p:sp>
        <p:nvSpPr>
          <p:cNvPr id="172" name="arch-arrow-4">
            <a:extLst>
              <a:ext uri="{FF2B5EF4-FFF2-40B4-BE49-F238E27FC236}">
                <a16:creationId xmlns:a16="http://schemas.microsoft.com/office/drawing/2014/main" id="{3DFBC460-4564-4F07-9003-2EEA79BA98AE}"/>
              </a:ext>
            </a:extLst>
          </p:cNvPr>
          <p:cNvSpPr>
            <a:spLocks noGrp="1"/>
          </p:cNvSpPr>
          <p:nvPr/>
        </p:nvSpPr>
        <p:spPr>
          <a:xfrm>
            <a:off x="8258175" y="2876550"/>
            <a:ext cx="419100" cy="190500"/>
          </a:xfrm>
          <a:prstGeom prst="rightArrow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3" name="arch-llm">
            <a:extLst>
              <a:ext uri="{FF2B5EF4-FFF2-40B4-BE49-F238E27FC236}">
                <a16:creationId xmlns:a16="http://schemas.microsoft.com/office/drawing/2014/main" id="{F8DDBD89-33F5-4451-B669-A119A1CC0237}"/>
              </a:ext>
            </a:extLst>
          </p:cNvPr>
          <p:cNvSpPr>
            <a:spLocks noGrp="1"/>
          </p:cNvSpPr>
          <p:nvPr/>
        </p:nvSpPr>
        <p:spPr>
          <a:xfrm>
            <a:off x="8810625" y="2590800"/>
            <a:ext cx="1857375" cy="781050"/>
          </a:xfrm>
          <a:prstGeom prst="roundRect">
            <a:avLst>
              <a:gd name="adj" fmla="val 17073"/>
            </a:avLst>
          </a:prstGeom>
          <a:solidFill>
            <a:srgbClr val="E9FAF7"/>
          </a:solidFill>
          <a:ln w="14288">
            <a:solidFill>
              <a:srgbClr val="7ACCC5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API del modelo</a:t>
            </a:r>
          </a:p>
          <a:p>
            <a:pPr algn="ctr">
              <a:defRPr sz="12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 lenguaje</a:t>
            </a:r>
          </a:p>
        </p:txBody>
      </p:sp>
      <p:sp>
        <p:nvSpPr>
          <p:cNvPr id="174" name="arch-docs">
            <a:extLst>
              <a:ext uri="{FF2B5EF4-FFF2-40B4-BE49-F238E27FC236}">
                <a16:creationId xmlns:a16="http://schemas.microsoft.com/office/drawing/2014/main" id="{0C588698-C19C-457A-9B2B-BB4368C43198}"/>
              </a:ext>
            </a:extLst>
          </p:cNvPr>
          <p:cNvSpPr>
            <a:spLocks noGrp="1"/>
          </p:cNvSpPr>
          <p:nvPr/>
        </p:nvSpPr>
        <p:spPr>
          <a:xfrm>
            <a:off x="1809750" y="4476750"/>
            <a:ext cx="17145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4288">
            <a:solidFill>
              <a:srgbClr val="D9E3F0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Documentos y FAQ</a:t>
            </a:r>
          </a:p>
        </p:txBody>
      </p:sp>
      <p:sp>
        <p:nvSpPr>
          <p:cNvPr id="175" name="arch-arrow-5">
            <a:extLst>
              <a:ext uri="{FF2B5EF4-FFF2-40B4-BE49-F238E27FC236}">
                <a16:creationId xmlns:a16="http://schemas.microsoft.com/office/drawing/2014/main" id="{CD4D70BB-8EC6-4DA8-9BB7-DBE84881426F}"/>
              </a:ext>
            </a:extLst>
          </p:cNvPr>
          <p:cNvSpPr>
            <a:spLocks noGrp="1"/>
          </p:cNvSpPr>
          <p:nvPr/>
        </p:nvSpPr>
        <p:spPr>
          <a:xfrm>
            <a:off x="3638550" y="4695825"/>
            <a:ext cx="419100" cy="190500"/>
          </a:xfrm>
          <a:prstGeom prst="rightArrow">
            <a:avLst/>
          </a:prstGeom>
          <a:solidFill>
            <a:srgbClr val="9CC9E8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6" name="arch-ingest">
            <a:extLst>
              <a:ext uri="{FF2B5EF4-FFF2-40B4-BE49-F238E27FC236}">
                <a16:creationId xmlns:a16="http://schemas.microsoft.com/office/drawing/2014/main" id="{5D208E19-7265-4A77-A0EF-672D97B3C42A}"/>
              </a:ext>
            </a:extLst>
          </p:cNvPr>
          <p:cNvSpPr>
            <a:spLocks noGrp="1"/>
          </p:cNvSpPr>
          <p:nvPr/>
        </p:nvSpPr>
        <p:spPr>
          <a:xfrm>
            <a:off x="4191000" y="4381500"/>
            <a:ext cx="1619250" cy="838200"/>
          </a:xfrm>
          <a:prstGeom prst="roundRect">
            <a:avLst>
              <a:gd name="adj" fmla="val 15909"/>
            </a:avLst>
          </a:prstGeom>
          <a:solidFill>
            <a:srgbClr val="F7F9FC"/>
          </a:solidFill>
          <a:ln w="14288">
            <a:solidFill>
              <a:srgbClr val="D9E3F0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Carga y</a:t>
            </a:r>
          </a:p>
          <a:p>
            <a:pPr algn="ctr">
              <a:defRPr sz="12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vectorización</a:t>
            </a:r>
          </a:p>
        </p:txBody>
      </p:sp>
      <p:sp>
        <p:nvSpPr>
          <p:cNvPr id="177" name="arch-arrow-6">
            <a:extLst>
              <a:ext uri="{FF2B5EF4-FFF2-40B4-BE49-F238E27FC236}">
                <a16:creationId xmlns:a16="http://schemas.microsoft.com/office/drawing/2014/main" id="{497A91E9-75E2-47C5-B65A-D4836B0B62B3}"/>
              </a:ext>
            </a:extLst>
          </p:cNvPr>
          <p:cNvSpPr>
            <a:spLocks noGrp="1"/>
          </p:cNvSpPr>
          <p:nvPr/>
        </p:nvSpPr>
        <p:spPr>
          <a:xfrm>
            <a:off x="5924550" y="4695825"/>
            <a:ext cx="419100" cy="190500"/>
          </a:xfrm>
          <a:prstGeom prst="rightArrow">
            <a:avLst/>
          </a:prstGeom>
          <a:solidFill>
            <a:srgbClr val="9CC9E8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8" name="arch-vector">
            <a:extLst>
              <a:ext uri="{FF2B5EF4-FFF2-40B4-BE49-F238E27FC236}">
                <a16:creationId xmlns:a16="http://schemas.microsoft.com/office/drawing/2014/main" id="{E22809CA-92CD-4E14-B597-446D54638AED}"/>
              </a:ext>
            </a:extLst>
          </p:cNvPr>
          <p:cNvSpPr>
            <a:spLocks noGrp="1"/>
          </p:cNvSpPr>
          <p:nvPr/>
        </p:nvSpPr>
        <p:spPr>
          <a:xfrm>
            <a:off x="6477000" y="4381500"/>
            <a:ext cx="1619250" cy="838200"/>
          </a:xfrm>
          <a:prstGeom prst="roundRect">
            <a:avLst>
              <a:gd name="adj" fmla="val 15909"/>
            </a:avLst>
          </a:prstGeom>
          <a:solidFill>
            <a:srgbClr val="EEF6FF"/>
          </a:solidFill>
          <a:ln w="14288">
            <a:solidFill>
              <a:srgbClr val="83B4F5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PostgreSQL</a:t>
            </a:r>
          </a:p>
          <a:p>
            <a:pPr algn="ctr">
              <a:defRPr sz="12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+ pgvector</a:t>
            </a:r>
          </a:p>
        </p:txBody>
      </p:sp>
      <p:sp>
        <p:nvSpPr>
          <p:cNvPr id="179" name="arch-arrow-vector-rag">
            <a:extLst>
              <a:ext uri="{FF2B5EF4-FFF2-40B4-BE49-F238E27FC236}">
                <a16:creationId xmlns:a16="http://schemas.microsoft.com/office/drawing/2014/main" id="{644C76BE-1AA3-4723-939D-E8070C554461}"/>
              </a:ext>
            </a:extLst>
          </p:cNvPr>
          <p:cNvSpPr>
            <a:spLocks noGrp="1"/>
          </p:cNvSpPr>
          <p:nvPr/>
        </p:nvSpPr>
        <p:spPr>
          <a:xfrm>
            <a:off x="7162800" y="3476625"/>
            <a:ext cx="247650" cy="781050"/>
          </a:xfrm>
          <a:prstGeom prst="upArrow">
            <a:avLst/>
          </a:prstGeom>
          <a:solidFill>
            <a:srgbClr val="9CC9E8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0" name="arch-rag-link">
            <a:extLst>
              <a:ext uri="{FF2B5EF4-FFF2-40B4-BE49-F238E27FC236}">
                <a16:creationId xmlns:a16="http://schemas.microsoft.com/office/drawing/2014/main" id="{6CCFC488-ADE8-41A7-B82A-710DC3B336B7}"/>
              </a:ext>
            </a:extLst>
          </p:cNvPr>
          <p:cNvSpPr>
            <a:spLocks noGrp="1"/>
          </p:cNvSpPr>
          <p:nvPr/>
        </p:nvSpPr>
        <p:spPr>
          <a:xfrm>
            <a:off x="6048375" y="541020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071" lnSpcReduction="10000"/>
          </a:bodyPr>
          <a:lstStyle/>
          <a:p>
            <a:pPr algn="ctr">
              <a:defRPr sz="10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Base de conocimiento consultada por el motor RAG</a:t>
            </a:r>
          </a:p>
        </p:txBody>
      </p:sp>
      <p:sp>
        <p:nvSpPr>
          <p:cNvPr id="181" name="arch-arrow-llm-corestream">
            <a:extLst>
              <a:ext uri="{FF2B5EF4-FFF2-40B4-BE49-F238E27FC236}">
                <a16:creationId xmlns:a16="http://schemas.microsoft.com/office/drawing/2014/main" id="{0DB3E37C-B400-4F68-BB62-8C35DA9AA157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247650" cy="723900"/>
          </a:xfrm>
          <a:prstGeom prst="downArrow">
            <a:avLst/>
          </a:prstGeom>
          <a:solidFill>
            <a:srgbClr val="E7B35D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2" name="arch-corestream">
            <a:extLst>
              <a:ext uri="{FF2B5EF4-FFF2-40B4-BE49-F238E27FC236}">
                <a16:creationId xmlns:a16="http://schemas.microsoft.com/office/drawing/2014/main" id="{589CE7D2-EA3F-46CC-A0C4-3BB41E081AE8}"/>
              </a:ext>
            </a:extLst>
          </p:cNvPr>
          <p:cNvSpPr>
            <a:spLocks noGrp="1"/>
          </p:cNvSpPr>
          <p:nvPr/>
        </p:nvSpPr>
        <p:spPr>
          <a:xfrm>
            <a:off x="9096375" y="4333875"/>
            <a:ext cx="1762125" cy="838200"/>
          </a:xfrm>
          <a:prstGeom prst="roundRect">
            <a:avLst>
              <a:gd name="adj" fmla="val 15909"/>
            </a:avLst>
          </a:prstGeom>
          <a:solidFill>
            <a:srgbClr val="FFF7E8"/>
          </a:solidFill>
          <a:ln w="14288">
            <a:solidFill>
              <a:srgbClr val="E7B35D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Corestream REST</a:t>
            </a:r>
          </a:p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o simulador</a:t>
            </a:r>
          </a:p>
          <a:p>
            <a:pPr algn="ctr">
              <a:defRPr sz="12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Soporte humano</a:t>
            </a:r>
          </a:p>
        </p:txBody>
      </p:sp>
      <p:sp>
        <p:nvSpPr>
          <p:cNvPr id="183" name="arch-fallback">
            <a:extLst>
              <a:ext uri="{FF2B5EF4-FFF2-40B4-BE49-F238E27FC236}">
                <a16:creationId xmlns:a16="http://schemas.microsoft.com/office/drawing/2014/main" id="{C831B518-2383-477B-B92B-16FA004545C7}"/>
              </a:ext>
            </a:extLst>
          </p:cNvPr>
          <p:cNvSpPr>
            <a:spLocks noGrp="1"/>
          </p:cNvSpPr>
          <p:nvPr/>
        </p:nvSpPr>
        <p:spPr>
          <a:xfrm>
            <a:off x="8715375" y="5381625"/>
            <a:ext cx="25241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Si la consulta no se resuelve</a:t>
            </a:r>
          </a:p>
        </p:txBody>
      </p:sp>
      <p:sp>
        <p:nvSpPr>
          <p:cNvPr id="184" name="arch-tenant">
            <a:extLst>
              <a:ext uri="{FF2B5EF4-FFF2-40B4-BE49-F238E27FC236}">
                <a16:creationId xmlns:a16="http://schemas.microsoft.com/office/drawing/2014/main" id="{1318BBC2-84A3-4A5D-8847-D6ED12AB071D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9715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F3A"/>
                </a:solidFill>
                <a:latin typeface="Segoe UI"/>
                <a:ea typeface="Segoe UI"/>
                <a:cs typeface="Segoe UI"/>
              </a:rPr>
              <a:t>Cada solicitud mantiene el contexto de la empresa para evitar mezclar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0002024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DocSecurity>0</DocSecurity>
  <PresentationFormat>Panorámica</PresentationFormat>
  <Paragraphs>113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Vicente Balladares Alexandroff</cp:lastModifiedBy>
  <cp:revision>1</cp:revision>
  <dcterms:created xsi:type="dcterms:W3CDTF">2026-09-08T13:50:29Z</dcterms:created>
  <dcterms:modified xsi:type="dcterms:W3CDTF">2026-09-08T13:56:36Z</dcterms:modified>
</cp:coreProperties>
</file>